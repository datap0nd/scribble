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fr-FR" sz="1000" b="1">
                <a:solidFill>
                  <a:srgbClr val="404040"/>
                </a:solidFill>
                <a:latin typeface="Samsung Sharp Sans Bold"/>
              </a:rPr>
              <a:t>Revenue EUR / Cost EUR (EUR)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EUR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85465</c:v>
                </c:pt>
                <c:pt idx="1">
                  <c:v>86227</c:v>
                </c:pt>
                <c:pt idx="2">
                  <c:v>81867</c:v>
                </c:pt>
                <c:pt idx="3">
                  <c:v>80048</c:v>
                </c:pt>
                <c:pt idx="4">
                  <c:v>85519</c:v>
                </c:pt>
                <c:pt idx="5">
                  <c:v>82992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DD-41F0-9610-602D49A2C2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EUR</c:v>
                </c:pt>
              </c:strCache>
            </c:strRef>
          </c:tx>
          <c:spPr>
            <a:solidFill>
              <a:srgbClr val="5B9BD5"/>
            </a:solid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37923</c:v>
                </c:pt>
                <c:pt idx="1">
                  <c:v>35861</c:v>
                </c:pt>
                <c:pt idx="2">
                  <c:v>34892</c:v>
                </c:pt>
                <c:pt idx="3">
                  <c:v>34407</c:v>
                </c:pt>
                <c:pt idx="4">
                  <c:v>36702</c:v>
                </c:pt>
                <c:pt idx="5">
                  <c:v>36714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DD-41F0-9610-602D49A2C2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6736064"/>
        <c:axId val="530392368"/>
      </c:barChart>
      <c:catAx>
        <c:axId val="526736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392368"/>
        <c:crosses val="autoZero"/>
        <c:auto val="1"/>
        <c:lblAlgn val="ctr"/>
        <c:lblOffset val="100"/>
        <c:noMultiLvlLbl val="0"/>
      </c:catAx>
      <c:valAx>
        <c:axId val="53039236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6736064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404040"/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A82CFB-124D-4BCE-AA0D-21B5FBB1A35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16B4F7-B2FD-435E-918A-1B61B08BC1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570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  <a:r>
              <a:rPr lang="en-GB"/>
              <a:t>
WB01 Ledger and History
Fictional operational source
Evidence:
Source content retained in native editable cards.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Fictional source: WB01, Ledger and monthly operations records, January–June 2026. Source period complete. Values in this source are not claims about a real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8A247-ED0C-AA03-3712-5259B23B09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5F1ED-DBF7-85F9-CE71-D4DD39671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2153F-C8EE-A428-B55E-B3CA2E5A7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2AF3-C093-452F-BA34-2199BAB71788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84DD4-8C20-A672-44DC-7700A5D9C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6F02F-E2DF-0EB1-908B-52E69F8FD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8825-C728-40F3-8FA4-9EBD4AAC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3988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81754-15E5-85B7-F4E5-7D3BECEF3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8D87A-91D3-A275-2FCE-FA3E2BF79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05D0E-5ED5-F20A-6AA4-AB95717F0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2AF3-C093-452F-BA34-2199BAB71788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87202-31E9-FB8D-9916-F79D42199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17D5C-4EE8-00A0-6543-0E3CD11F5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8825-C728-40F3-8FA4-9EBD4AAC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00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749DD-5841-BEE2-E3DA-A6C5DFD7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BA19A-65FB-8160-7A05-2F852CFEE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32909-EB82-A4A0-D128-2EDF3343F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2AF3-C093-452F-BA34-2199BAB71788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763CE-4955-2FE0-875C-31DA795FE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F0FE4-029F-4980-C8E1-26D71CFF9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8825-C728-40F3-8FA4-9EBD4AAC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054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A964B-E582-D304-2155-42EF8A0A1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B4738-CFC9-73AB-676A-78BD24F0DC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FCD92-1780-CDA5-9E97-B05CBB4DD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CD62E-1F41-283A-AAE3-CBEDB4373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2AF3-C093-452F-BA34-2199BAB71788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964B2-406A-18B6-2ED0-225974020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F7E24-E402-17BD-2523-DC9604E8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8825-C728-40F3-8FA4-9EBD4AAC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5938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C830F-40B8-17A2-0223-EC5244C53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D8E98-DFE2-3150-54B0-B3E9D4356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BF8D8-4099-2D65-BBDC-C0DACDA33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AAB801-8315-FFE2-5B86-26937C6FC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4050FC-2968-1778-7DF8-7B2C49DB6E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526399-CC1C-39D1-1444-931E02A17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2AF3-C093-452F-BA34-2199BAB71788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D75C8C-494A-6CD1-77F3-FD818BCC1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64F1AA-F659-8879-0443-5C75B820E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8825-C728-40F3-8FA4-9EBD4AAC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1054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859B8-BA8E-B412-29E2-5D1CFA1B7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DFEBB7-8C1F-DE62-9B91-A4EE2617C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2AF3-C093-452F-BA34-2199BAB71788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083D7B-BA50-3B55-248D-45D833A3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480B6-EDEC-E1DD-1648-14C74BAEC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8825-C728-40F3-8FA4-9EBD4AAC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980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09E559-9B83-D4CE-4A40-C4F36515D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2AF3-C093-452F-BA34-2199BAB71788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6CAB1D-CCA4-B2B3-2937-91AC7D62E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F506D-1690-AAE5-9112-8653FC2EF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8825-C728-40F3-8FA4-9EBD4AAC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40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36061-98D3-46AD-E499-49FD632FD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765C9-2D6D-862B-20C0-21B77A8AE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100C6B-EC87-E9A3-88FF-96CDB178F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31709-8138-A48C-A2BD-570953E1C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2AF3-C093-452F-BA34-2199BAB71788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DE439-AAD7-9EAD-D4E0-4DABDA100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C17F7-5439-D8C1-5731-BAF8D98D9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8825-C728-40F3-8FA4-9EBD4AAC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38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71E89-E8B0-DB53-6789-562189BBC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92A590-EAAB-0D46-7735-62DF83CA30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9EAD3-2F33-D9CC-0AE1-CE013BFAB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53978-0D4C-DC37-C50C-FB69775D1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2AF3-C093-452F-BA34-2199BAB71788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4A72F-7285-2945-9DEE-F7D9103D4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F8354-E850-1BC6-20F8-D647EB2B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8825-C728-40F3-8FA4-9EBD4AAC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219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68A90-2C04-817B-451B-376F63CD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668A74-819D-B5F3-F968-F6679C831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4AF49-30C2-FF85-2B27-012421C10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2AF3-C093-452F-BA34-2199BAB71788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78311-14D8-6BCE-FF0B-050A7A1A9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AE5B6-0F44-25B7-3552-D185943F7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8825-C728-40F3-8FA4-9EBD4AAC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05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91604-2055-8F46-84CE-01F4AF79E6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31012-DA01-AA76-AABC-56640158C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90825-4033-D6E4-BA00-D2AC60C89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D2AF3-C093-452F-BA34-2199BAB71788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2D9E4-088B-686F-17C8-2C8675CC5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AF4B0-E676-AE6B-10DE-9E9FF1BDF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8825-C728-40F3-8FA4-9EBD4AAC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0473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819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613202-772B-FF6C-30EA-5F0F8D530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AA81F-7513-32C8-EA80-A1E3B8EA2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4DA31-B600-6DBB-DA48-4B5D93DC8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6D2AF3-C093-452F-BA34-2199BAB71788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DE27D-8E05-5CFA-AEE6-7AAE8A3B49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8ED71-54BD-2668-20A4-977E9B885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308825-C728-40F3-8FA4-9EBD4AAC19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242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slideLayout" Target="../slideLayouts/slideLayout12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1B4575-510A-42C0-995A-F3A2B9ADF90D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Atlas Components: sales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AFDAFC-044F-477E-98F0-1757A8BDFB44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258CC7-3C2F-430B-A95F-A485477EDD85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DE946D-8A69-43DC-A2AF-7A9866D83957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B6192F-D87A-45AA-A263-4EDB75BBF2B5}"/>
              </a:ext>
            </a:extLst>
          </p:cNvPr>
          <p:cNvSpPr>
            <a:spLocks noGrp="1"/>
          </p:cNvSpPr>
          <p:nvPr/>
        </p:nvSpPr>
        <p:spPr>
          <a:xfrm>
            <a:off x="809625" y="2095500"/>
            <a:ext cx="5715000" cy="1371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F81BD"/>
                </a:solidFill>
                <a:latin typeface="Arial"/>
                <a:ea typeface="Arial"/>
                <a:cs typeface="Arial"/>
              </a:rPr>
              <a:t>Revenue EUR</a:t>
            </a:r>
          </a:p>
          <a:p>
            <a:pPr>
              <a:defRPr sz="2700" b="1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F81BD"/>
                </a:solidFill>
                <a:latin typeface="Arial"/>
                <a:ea typeface="Arial"/>
                <a:cs typeface="Arial"/>
              </a:rPr>
              <a:t>82,992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3306CD-2B10-48BE-AEC9-E11FE31D02FB}"/>
              </a:ext>
            </a:extLst>
          </p:cNvPr>
          <p:cNvSpPr>
            <a:spLocks noGrp="1"/>
          </p:cNvSpPr>
          <p:nvPr/>
        </p:nvSpPr>
        <p:spPr>
          <a:xfrm>
            <a:off x="7000875" y="2095500"/>
            <a:ext cx="4572000" cy="1371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Cost EUR</a:t>
            </a:r>
          </a:p>
          <a:p>
            <a:pPr>
              <a:defRPr sz="2250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36,714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95E1D3-0DFF-4880-ADC1-07DD5FE841C6}"/>
              </a:ext>
            </a:extLst>
          </p:cNvPr>
          <p:cNvSpPr>
            <a:spLocks noGrp="1"/>
          </p:cNvSpPr>
          <p:nvPr/>
        </p:nvSpPr>
        <p:spPr>
          <a:xfrm>
            <a:off x="809625" y="4191000"/>
            <a:ext cx="10620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Six months of operating records across four groups.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Gross margin: 55.76%</a:t>
            </a:r>
          </a:p>
        </p:txBody>
      </p:sp>
    </p:spTree>
    <p:extLst>
      <p:ext uri="{BB962C8B-B14F-4D97-AF65-F5344CB8AC3E}">
        <p14:creationId xmlns:p14="http://schemas.microsoft.com/office/powerpoint/2010/main" val="1157894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16BA17-3673-4845-A5C7-2AE823E865D4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Revenue EUR: six-month trend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FA7FB4-D1DC-4E77-973B-32B7F82F0ADD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44244C-8AB9-4E70-9C5C-9CDA9363F4FD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C276F5-6FCB-4157-8566-292503FA45EE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3769F19-C93A-D190-F662-00594AE602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1738308"/>
              </p:ext>
            </p:extLst>
          </p:nvPr>
        </p:nvGraphicFramePr>
        <p:xfrm>
          <a:off x="838200" y="2009775"/>
          <a:ext cx="10477500" cy="332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71547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49BE370-C899-46AF-95E7-E2859297D06B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June results by operating group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7460F9-AD57-4909-9C9B-41714EBCB21B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30CE5D-42F0-427D-AB1C-9AC2E7F66F29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6E65E1-90E9-4CC9-A895-07455B4EA5EB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10" name="Table 9"/>
          <p:cNvGraphicFramePr/>
          <p:nvPr>
            <p:extLst>
              <p:ext uri="{D42A27DB-BD31-4B8C-83A1-F6EECF244321}">
                <p14:modId xmlns:p14="http://schemas.microsoft.com/office/powerpoint/2010/main" val="1443844613"/>
              </p:ext>
            </p:extLst>
          </p:nvPr>
        </p:nvGraphicFramePr>
        <p:xfrm>
          <a:off x="800100" y="1943100"/>
          <a:ext cx="10591800" cy="3429000"/>
        </p:xfrm>
        <a:graphic>
          <a:graphicData uri="http://schemas.openxmlformats.org/drawingml/2006/table">
            <a:tbl>
              <a:tblPr/>
              <a:tblGrid>
                <a:gridCol w="2965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Group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Revenue EUR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Cost EUR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North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19,219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8,082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South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22,675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10,787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19,054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9,708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West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22,044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8,137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553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A24E155-8456-0C45-9A86-6A0F4125CE8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Operating review and evidence boundaries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72000-31FC-CF65-5FE0-96B95A221AB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Source-backed measures and interpretation limits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A1B54C-E69D-50C5-CE85-E4BD581D0B7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3296" y="171450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2BE982-4F81-5C3B-0753-9CDE85B7067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3296" y="171450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6AC128-910D-C369-FAE4-B26331D2CC4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1096" y="1841500"/>
            <a:ext cx="33594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June measure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334A25-1905-89AE-603D-ABD588AA1A6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076700" y="1803400"/>
            <a:ext cx="16764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2900" b="1">
                <a:solidFill>
                  <a:srgbClr val="4F81BD"/>
                </a:solidFill>
                <a:latin typeface="Arial" panose="020B0604020202020204" pitchFamily="34" charset="0"/>
              </a:rPr>
              <a:t>82,992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5F691E-E1CC-CB76-F460-D12E861ADB7D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41096" y="2716470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June revenue eur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73E47F-E075-F2E0-1CB3-811EBAEE5C1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261100" y="171450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F8EE2A-9115-53F5-72DA-529A62BE0018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261100" y="171450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611B54-5483-C2C2-0E7C-B71836A65CDA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438900" y="1841500"/>
            <a:ext cx="33594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Cost and margin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0FE713-7F3A-2B2F-B156-C562C86CD14F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9874504" y="1803400"/>
            <a:ext cx="16764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2900" b="1">
                <a:solidFill>
                  <a:srgbClr val="4F81BD"/>
                </a:solidFill>
                <a:latin typeface="Arial" panose="020B0604020202020204" pitchFamily="34" charset="0"/>
              </a:rPr>
              <a:t>36,714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5F4F04-927C-4969-CB48-77FBEAB35263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438900" y="2507714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Cost EUR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9EFF76-B17F-21C9-63BB-0CD50AC03419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6438900" y="2953603"/>
            <a:ext cx="5112004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Gross margin: 55.76%.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9CCEF0-8EBF-576D-AE2B-D5136498FC7D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63296" y="378333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460891-E92A-1378-8955-35195D48E03C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463296" y="378333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75E2AB-6AFA-3A41-1C77-5A175526C3E5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41096" y="3910330"/>
            <a:ext cx="51120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Comparison scope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93438B-4F31-3B8B-DC01-D0C6B58A23D6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41096" y="4518693"/>
            <a:ext cx="5112004" cy="8521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The monthly comparison covers January to June 2026. Group comparisons use June records only. Source blanks remain unknown.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AFDEF8-55E0-4720-21FA-79779A8D0D8B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261100" y="378333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9CCF0F-862D-6909-4817-18D6381ADA3A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261100" y="378333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849307-C4C6-9B33-279E-FBB69E8B8653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438900" y="3910330"/>
            <a:ext cx="51120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Interpretation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E09420-FCB3-B70C-1F3C-75609EAB078E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438900" y="4518693"/>
            <a:ext cx="5112004" cy="8521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Operational status and financial performance are separate: a planned action is not a completed result.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1D10EE-0BD5-4E18-9005-C46D8743C5A7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Fictional operational source; WB01 Ledger and History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3CE135-76A1-780F-6D0D-3DE815489053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- 4 -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2781CB-FA92-7E44-1DCA-E07B23BC5023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719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9B9C812-F076-42C3-B6AB-20D6724BB099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Follow-up register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7D0EC2-69C4-461E-A176-92260998F7A7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07E94F-F1C4-4FA1-8599-59B7B877505D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8385D5-9DDB-4C30-A649-15081893C350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11" name="Table 10"/>
          <p:cNvGraphicFramePr/>
          <p:nvPr/>
        </p:nvGraphicFramePr>
        <p:xfrm>
          <a:off x="800100" y="1943100"/>
          <a:ext cx="10591800" cy="3238500"/>
        </p:xfrm>
        <a:graphic>
          <a:graphicData uri="http://schemas.openxmlformats.org/drawingml/2006/table">
            <a:tbl>
              <a:tblPr/>
              <a:tblGrid>
                <a:gridCol w="2965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3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follow-up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Due date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Mira Cole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Reconcile North source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Leon Park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Review South exceptions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Nadia Shah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Confirm East operating assumptions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Evan Reed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Review West source completeness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2026-07-16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DEFC937-2955-487A-9B78-994FFA64792D}"/>
              </a:ext>
            </a:extLst>
          </p:cNvPr>
          <p:cNvSpPr>
            <a:spLocks noGrp="1"/>
          </p:cNvSpPr>
          <p:nvPr/>
        </p:nvSpPr>
        <p:spPr>
          <a:xfrm>
            <a:off x="800100" y="5610225"/>
            <a:ext cx="105727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All follow-ups are planned. Completion and savings are not confirmed.</a:t>
            </a:r>
          </a:p>
        </p:txBody>
      </p:sp>
    </p:spTree>
    <p:extLst>
      <p:ext uri="{BB962C8B-B14F-4D97-AF65-F5344CB8AC3E}">
        <p14:creationId xmlns:p14="http://schemas.microsoft.com/office/powerpoint/2010/main" val="1742414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7930F9-CFB7-4295-B66E-527C123B2258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A35"/>
                </a:solidFill>
                <a:latin typeface="Arial"/>
                <a:ea typeface="Arial"/>
                <a:cs typeface="Arial"/>
              </a:rPr>
              <a:t>Source coverage and definitions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004DF6-4434-4BF5-A26F-DDCE0E34624F}"/>
              </a:ext>
            </a:extLst>
          </p:cNvPr>
          <p:cNvSpPr>
            <a:spLocks noGrp="1"/>
          </p:cNvSpPr>
          <p:nvPr/>
        </p:nvSpPr>
        <p:spPr>
          <a:xfrm>
            <a:off x="466725" y="1104900"/>
            <a:ext cx="11249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4F81BD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4F81BD"/>
                </a:solidFill>
                <a:latin typeface="Arial"/>
                <a:ea typeface="Arial"/>
                <a:cs typeface="Arial"/>
              </a:rPr>
              <a:t>Atlas Components | sales | January–June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4B99C4-48CD-4B03-B3BA-AEC82EB16665}"/>
              </a:ext>
            </a:extLst>
          </p:cNvPr>
          <p:cNvSpPr>
            <a:spLocks noGrp="1"/>
          </p:cNvSpPr>
          <p:nvPr/>
        </p:nvSpPr>
        <p:spPr>
          <a:xfrm>
            <a:off x="466725" y="6410325"/>
            <a:ext cx="106108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WB01 • Fictional operational source • PPT01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902CBD-90D1-4178-A4E2-7E2611402662}"/>
              </a:ext>
            </a:extLst>
          </p:cNvPr>
          <p:cNvSpPr>
            <a:spLocks noGrp="1"/>
          </p:cNvSpPr>
          <p:nvPr/>
        </p:nvSpPr>
        <p:spPr>
          <a:xfrm>
            <a:off x="11458575" y="6438900"/>
            <a:ext cx="5429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5966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667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255E10-C2E7-4DA4-B612-16ACA52BAA65}"/>
              </a:ext>
            </a:extLst>
          </p:cNvPr>
          <p:cNvSpPr>
            <a:spLocks noGrp="1"/>
          </p:cNvSpPr>
          <p:nvPr/>
        </p:nvSpPr>
        <p:spPr>
          <a:xfrm>
            <a:off x="800100" y="1971675"/>
            <a:ext cx="10572750" cy="3524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Workbook: WB01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Period: January–June 2026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Groups: North, South, East, West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Measures: Revenue EUR; Cost EUR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June source measures are complete.</a:t>
            </a:r>
          </a:p>
          <a:p>
            <a:pPr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Rates use the aggregate numerator and denominator, not an average of row rates.</a:t>
            </a:r>
          </a:p>
        </p:txBody>
      </p:sp>
    </p:spTree>
    <p:extLst>
      <p:ext uri="{BB962C8B-B14F-4D97-AF65-F5344CB8AC3E}">
        <p14:creationId xmlns:p14="http://schemas.microsoft.com/office/powerpoint/2010/main" val="19438039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REVISIONDRAFT" val="phase4-pp01-native"/>
  <p:tag name="SCRIBBLEPRESENTATIONID" val="d4a7731bd97540279e0a9d92308d88c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1eefbfd626b34432a8400888288ce1b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538</Words>
  <Application>Microsoft Office PowerPoint</Application>
  <PresentationFormat>Custom</PresentationFormat>
  <Paragraphs>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Arial Narrow</vt:lpstr>
      <vt:lpstr>Calibri</vt:lpstr>
      <vt:lpstr>Samsung Sharp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28</cp:revision>
  <dcterms:created xsi:type="dcterms:W3CDTF">2026-09-24T16:50:03Z</dcterms:created>
  <dcterms:modified xsi:type="dcterms:W3CDTF">2026-09-24T16:52:20Z</dcterms:modified>
</cp:coreProperties>
</file>