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4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5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5F153B-F619-42EE-83F6-30307FE12AA6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B078D-E5BA-4A12-A9A5-34F1F9D0A8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4744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040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007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specification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021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394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756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295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687C-D55B-7E51-867A-856CC1EA44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D6ABD-6974-8337-F0E9-C6ED120CE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6DB5C-246F-DA06-269B-CCA310038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59CA4-6525-823B-AE0A-0C12F37C6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F5B27-3696-AC00-7197-A9A4A4AEE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2795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EA70B-587B-45AE-F082-CD37B890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8E164-A2FE-8572-1D75-026C13C11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C661B-CB5E-A78B-EA72-D07DFC945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E9DED-C321-AC48-AFFA-6A81EE5CB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43791-8491-58AE-041D-95FC7F0C1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16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B7571-A851-F34A-0F0F-E256016F7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A6FC6-749E-1D2C-96BD-9845B69F1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C17AD-7291-02FC-6AE8-C82CAB1DD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BA65A-8127-22B5-7CDF-31D9A544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332BE-66CC-D2E0-D178-65A75AE8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856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D912-0DEC-F446-1557-57FD7BC38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C2CE9-DDC9-C417-5724-052A37D7D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A6306-FA7E-636A-BD16-DF41E8FF3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FBB3F-17F8-A111-7E58-23A5BD2C6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1582A-60DC-91D4-B8D7-F425694DA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0012B-3C1B-6336-59CB-CAF73A7D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649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CB04D-F233-E564-B781-A540A16BE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6602E-A8E0-E7BA-6076-7F624F5AF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025E0-38BF-5FCD-4C7E-984909761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B8572-7A17-12E4-83C7-FD3029F25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C35EC-8946-6A7B-9FD7-AE0292C4D5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DE1C50-8A82-2959-3070-1C422094B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3B7648-1E82-DFBE-EDA9-20A98EB39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0B747-2A1A-4229-C121-699F73004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962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CC4B-FD84-4A07-0095-2D243F8AC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2B41B-4B8E-E9E8-F8D8-C85A33027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0F807-ED6E-21F9-C28C-A08158E82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ABF43-79F8-D10E-7EBD-07BC41BB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25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7D7A80-F604-0456-666D-F05082125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4C7F05-06ED-94F6-F7F6-71F9D143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DB304-620E-E0B9-7E59-3BEE1366C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723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91AB-ED13-8191-8168-2845011C9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4E48F-94B6-2889-9C21-77C464EE0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7CE15-CE36-248A-5A17-7B3232604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595F5-7462-756E-6D90-B027B24C6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E62F0-ED22-C476-970C-423019F3E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374CB-BC26-8D01-52DD-159E5C82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9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5F93E-02C8-6733-2FF8-B635C9F34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BBA4FE-FAD8-94A5-B452-86DA47E5D1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D88D5-873C-023F-0B59-A223131D0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C9061-C695-4710-3494-5583E154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C1841-8049-4C34-2BD6-B03E51E18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166C9-860F-5986-461F-FA493827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29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68F6-EA2F-54A4-B994-37486BFC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4D3D1B-6D07-74DC-67FB-706B3358B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4CF40-B520-F8FE-A523-BB86DAA55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E532B-3D2B-A252-E9F4-40247B339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982CB-3A4C-694E-039F-06EFC6AED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910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F32E57-815B-AF75-C7E5-C65BBE40F2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46F4E-3612-3DCF-CA39-19E71184F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8ECB6-1134-2F08-D115-EC9D80BB9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9667F-3FAA-2C03-1664-B5E890A5D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EB27C-C967-CFC1-0410-878A8A4D5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637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A1842D-F31F-4504-0680-3FF748BE1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A41C9-9F4D-4966-F4EF-7A688DF56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B7819-52B1-0299-9163-207FE1373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945A-A2F8-9623-9127-1AD76FF81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11DD3-5A28-3367-3130-3A6315E51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40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38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779FA5-D0F2-B7AC-5360-892C348E9AE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group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7D15F6-303D-8156-21FC-7035F80320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BD0A0E-67B6-F882-E88D-D127B7AE84FE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939636581"/>
              </p:ext>
            </p:extLst>
          </p:nvPr>
        </p:nvGraphicFramePr>
        <p:xfrm>
          <a:off x="1036320" y="2091690"/>
          <a:ext cx="101193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9225">
                  <a:extLst>
                    <a:ext uri="{9D8B030D-6E8A-4147-A177-3AD203B41FA5}">
                      <a16:colId xmlns:a16="http://schemas.microsoft.com/office/drawing/2014/main" val="3219665722"/>
                    </a:ext>
                  </a:extLst>
                </a:gridCol>
                <a:gridCol w="3098821">
                  <a:extLst>
                    <a:ext uri="{9D8B030D-6E8A-4147-A177-3AD203B41FA5}">
                      <a16:colId xmlns:a16="http://schemas.microsoft.com/office/drawing/2014/main" val="2983967432"/>
                    </a:ext>
                  </a:extLst>
                </a:gridCol>
                <a:gridCol w="2642683">
                  <a:extLst>
                    <a:ext uri="{9D8B030D-6E8A-4147-A177-3AD203B41FA5}">
                      <a16:colId xmlns:a16="http://schemas.microsoft.com/office/drawing/2014/main" val="2108334922"/>
                    </a:ext>
                  </a:extLst>
                </a:gridCol>
                <a:gridCol w="2288631">
                  <a:extLst>
                    <a:ext uri="{9D8B030D-6E8A-4147-A177-3AD203B41FA5}">
                      <a16:colId xmlns:a16="http://schemas.microsoft.com/office/drawing/2014/main" val="4208339000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Group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Margin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44147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North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19,219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8,081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57.95%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21973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South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22,675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10,786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52.43%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839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East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19,054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9,709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49.05%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56055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West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22,044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8,138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63.09%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46162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D7DDE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D7DDE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D7DDE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55.76%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D7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2541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3437D46-FCD0-36F6-E6D4-454F3A2953A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A13DC3-9CFF-324F-33BC-20DD9BE8C7B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- 1 -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7F2379-C18D-9314-1CA1-216A9F1CFD6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987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92F336-A6A9-4CAC-8057-6C42F08886D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performance across every operating region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35AF9-822F-B6F5-06EA-CACEBF103BC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The margin column uses aggregate regional totals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CF942F-B1FC-4FF2-BE16-611E7C66452F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397812006"/>
              </p:ext>
            </p:extLst>
          </p:nvPr>
        </p:nvGraphicFramePr>
        <p:xfrm>
          <a:off x="1036320" y="2091690"/>
          <a:ext cx="101193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426">
                  <a:extLst>
                    <a:ext uri="{9D8B030D-6E8A-4147-A177-3AD203B41FA5}">
                      <a16:colId xmlns:a16="http://schemas.microsoft.com/office/drawing/2014/main" val="1471544216"/>
                    </a:ext>
                  </a:extLst>
                </a:gridCol>
                <a:gridCol w="2815151">
                  <a:extLst>
                    <a:ext uri="{9D8B030D-6E8A-4147-A177-3AD203B41FA5}">
                      <a16:colId xmlns:a16="http://schemas.microsoft.com/office/drawing/2014/main" val="3054421219"/>
                    </a:ext>
                  </a:extLst>
                </a:gridCol>
                <a:gridCol w="2474656">
                  <a:extLst>
                    <a:ext uri="{9D8B030D-6E8A-4147-A177-3AD203B41FA5}">
                      <a16:colId xmlns:a16="http://schemas.microsoft.com/office/drawing/2014/main" val="3621091930"/>
                    </a:ext>
                  </a:extLst>
                </a:gridCol>
                <a:gridCol w="2079127">
                  <a:extLst>
                    <a:ext uri="{9D8B030D-6E8A-4147-A177-3AD203B41FA5}">
                      <a16:colId xmlns:a16="http://schemas.microsoft.com/office/drawing/2014/main" val="422403121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Operating region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Recognized 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Recorded 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Gross margin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43285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Northern operations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19,219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8,081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57.95%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90976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Southern operations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22,675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10,786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52.43%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78151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Eastern operations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19,054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9,709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49.05%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75672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Western operations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22,044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8,138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63.09%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63875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All operating regions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55.76%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108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8A061DB-15B6-30D5-61C9-7906AA7E574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7A3E53-9EC6-9425-995D-D2D9FCC140B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- 2 -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543C0B-558C-D05D-F3D3-182B9C96474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5317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A64741-9D01-A349-8E23-3E0848D1679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Twelve line specification matrix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5A2FD-C533-35C2-4989-41FD134C06D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245A28-B2FC-DA7C-1883-460FB737A096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25558857"/>
              </p:ext>
            </p:extLst>
          </p:nvPr>
        </p:nvGraphicFramePr>
        <p:xfrm>
          <a:off x="1036320" y="1920240"/>
          <a:ext cx="10119361" cy="3771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929">
                  <a:extLst>
                    <a:ext uri="{9D8B030D-6E8A-4147-A177-3AD203B41FA5}">
                      <a16:colId xmlns:a16="http://schemas.microsoft.com/office/drawing/2014/main" val="379304310"/>
                    </a:ext>
                  </a:extLst>
                </a:gridCol>
                <a:gridCol w="1901108">
                  <a:extLst>
                    <a:ext uri="{9D8B030D-6E8A-4147-A177-3AD203B41FA5}">
                      <a16:colId xmlns:a16="http://schemas.microsoft.com/office/drawing/2014/main" val="3892521758"/>
                    </a:ext>
                  </a:extLst>
                </a:gridCol>
                <a:gridCol w="1901108">
                  <a:extLst>
                    <a:ext uri="{9D8B030D-6E8A-4147-A177-3AD203B41FA5}">
                      <a16:colId xmlns:a16="http://schemas.microsoft.com/office/drawing/2014/main" val="925039513"/>
                    </a:ext>
                  </a:extLst>
                </a:gridCol>
                <a:gridCol w="1901108">
                  <a:extLst>
                    <a:ext uri="{9D8B030D-6E8A-4147-A177-3AD203B41FA5}">
                      <a16:colId xmlns:a16="http://schemas.microsoft.com/office/drawing/2014/main" val="525971333"/>
                    </a:ext>
                  </a:extLst>
                </a:gridCol>
                <a:gridCol w="1901108">
                  <a:extLst>
                    <a:ext uri="{9D8B030D-6E8A-4147-A177-3AD203B41FA5}">
                      <a16:colId xmlns:a16="http://schemas.microsoft.com/office/drawing/2014/main" val="616502396"/>
                    </a:ext>
                  </a:extLst>
                </a:gridCol>
              </a:tblGrid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Item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A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B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C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D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304708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16624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030935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17161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966010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905254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75654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923695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701779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26641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10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063334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11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302113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12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3071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CED3E91-5AC1-3DB7-42E7-77DAE56131A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specification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B89E84-9010-D3E4-8708-7AFD6DD347C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- 3 -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369BA-21E3-34C7-AFFF-CE5A49D2227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7545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85E4E4-656C-6842-DF4A-FD8FEA0E2BF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0832" y="1933956"/>
            <a:ext cx="10290048" cy="233857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6600" b="1">
                <a:solidFill>
                  <a:srgbClr val="000000"/>
                </a:solidFill>
                <a:latin typeface="Arial" panose="020B0604020202020204" pitchFamily="34" charset="0"/>
              </a:rPr>
              <a:t>June operating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5F16AE-8568-2F65-E542-C69E5B95E45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60832" y="5349240"/>
            <a:ext cx="10290048" cy="5486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200">
                <a:solidFill>
                  <a:srgbClr val="000000"/>
                </a:solidFill>
                <a:latin typeface="Arial" panose="020B0604020202020204" pitchFamily="34" charset="0"/>
              </a:rPr>
              <a:t>Verified results from the ledger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55F2E2-E967-24BF-9D85-399708AED15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6494526"/>
            <a:ext cx="12192000" cy="144018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3A0520-F17F-676E-9F8C-C5446A7E5CC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227064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F10575-101B-B097-8E5A-9F9BF862CF1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850745-6EE4-1B69-5C66-BD560C6A7E3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3897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D6993A-4DBA-A43A-9405-F15D3371987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0832" y="1933956"/>
            <a:ext cx="10290048" cy="233857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4200" b="1">
                <a:solidFill>
                  <a:srgbClr val="000000"/>
                </a:solidFill>
                <a:latin typeface="Arial" panose="020B0604020202020204" pitchFamily="34" charset="0"/>
              </a:rPr>
              <a:t>Operating performance review for the complete June reporting period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819E34-2782-3197-CF1B-A03753ECBF2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60832" y="5349240"/>
            <a:ext cx="10290048" cy="5486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200">
                <a:solidFill>
                  <a:srgbClr val="000000"/>
                </a:solidFill>
                <a:latin typeface="Arial" panose="020B0604020202020204" pitchFamily="34" charset="0"/>
              </a:rPr>
              <a:t>A traceable summary of revenue, cost, margin, and source limits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11E071-6C95-00A2-4434-966D118AEF1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6494526"/>
            <a:ext cx="12192000" cy="144018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DC88E-1B06-AB42-F186-5E3D61C7579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227064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6D5B8E-B910-E931-C93B-C9457D37DE5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- 5 -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839FF6-4853-7368-88B6-03F03309C1B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2233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002C7A-1F55-879F-E890-D962331DE22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50976" y="1275588"/>
            <a:ext cx="7778496" cy="471144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4000" b="1">
                <a:solidFill>
                  <a:srgbClr val="FFFFFF"/>
                </a:solidFill>
                <a:latin typeface="Arial" panose="020B0604020202020204" pitchFamily="34" charset="0"/>
              </a:rPr>
              <a:t>Decisions grounded in the ledger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BA46F-1A7B-5F67-7235-91BC9EA14BB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60832" y="5349240"/>
            <a:ext cx="10290048" cy="5486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200">
                <a:solidFill>
                  <a:srgbClr val="FFFFFF"/>
                </a:solidFill>
                <a:latin typeface="Arial" panose="020B0604020202020204" pitchFamily="34" charset="0"/>
              </a:rPr>
              <a:t>Confirm the response; retain the source; revisit the next period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6ADB69-BA5E-D71E-9D73-30FD8A5F2C0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FFFFFF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5C483-11E6-159B-06FD-3FE4B710213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FFFFFF"/>
                </a:solidFill>
                <a:latin typeface="Calibri" panose="020F0502020204030204" pitchFamily="34" charset="0"/>
              </a:rPr>
              <a:t>- 6 -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9612-D861-2707-1BEB-E798A49BCAA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FFFFF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59304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Microsoft Office PowerPoint</Application>
  <PresentationFormat>Custom</PresentationFormat>
  <Paragraphs>153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Arial Narrow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2</cp:revision>
  <dcterms:created xsi:type="dcterms:W3CDTF">2026-09-24T11:38:07Z</dcterms:created>
  <dcterms:modified xsi:type="dcterms:W3CDTF">2026-09-24T11:38:07Z</dcterms:modified>
</cp:coreProperties>
</file>