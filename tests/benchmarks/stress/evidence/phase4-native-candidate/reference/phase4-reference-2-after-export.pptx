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5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US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5-4B00-9A2D-F67EF6A09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0107232"/>
        <c:axId val="862000271"/>
      </c:barChart>
      <c:catAx>
        <c:axId val="65010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0271"/>
        <c:crosses val="autoZero"/>
        <c:auto val="1"/>
        <c:lblAlgn val="ctr"/>
        <c:lblOffset val="100"/>
        <c:noMultiLvlLbl val="0"/>
      </c:catAx>
      <c:valAx>
        <c:axId val="8620002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0107232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 in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20100</c:v>
                </c:pt>
                <c:pt idx="1">
                  <c:v>23020</c:v>
                </c:pt>
                <c:pt idx="2">
                  <c:v>19500</c:v>
                </c:pt>
                <c:pt idx="3">
                  <c:v>22899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3-4EE5-B57E-88E8513E56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F3-4EE5-B57E-88E8513E5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8170799"/>
        <c:axId val="862017551"/>
      </c:barChart>
      <c:catAx>
        <c:axId val="86817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7551"/>
        <c:crosses val="autoZero"/>
        <c:auto val="1"/>
        <c:lblAlgn val="ctr"/>
        <c:lblOffset val="100"/>
        <c:noMultiLvlLbl val="0"/>
      </c:catAx>
      <c:valAx>
        <c:axId val="86201755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170799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April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12900</c:v>
                </c:pt>
                <c:pt idx="1">
                  <c:v>14100</c:v>
                </c:pt>
                <c:pt idx="2">
                  <c:v>11800</c:v>
                </c:pt>
                <c:pt idx="3">
                  <c:v>13500</c:v>
                </c:pt>
                <c:pt idx="4">
                  <c:v>14900</c:v>
                </c:pt>
                <c:pt idx="5">
                  <c:v>16250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1D-462F-A4FF-E19A8B511B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13200</c:v>
                </c:pt>
                <c:pt idx="1">
                  <c:v>14500</c:v>
                </c:pt>
                <c:pt idx="2">
                  <c:v>12000</c:v>
                </c:pt>
                <c:pt idx="3">
                  <c:v>13900</c:v>
                </c:pt>
                <c:pt idx="4">
                  <c:v>15100</c:v>
                </c:pt>
                <c:pt idx="5">
                  <c:v>16819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1D-462F-A4FF-E19A8B511B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96674"/>
            </a:solidFill>
            <a:ln w="25400">
              <a:solidFill>
                <a:srgbClr val="596674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12800</c:v>
                </c:pt>
                <c:pt idx="1">
                  <c:v>14200</c:v>
                </c:pt>
                <c:pt idx="2">
                  <c:v>11700</c:v>
                </c:pt>
                <c:pt idx="3">
                  <c:v>13600</c:v>
                </c:pt>
                <c:pt idx="4">
                  <c:v>14900</c:v>
                </c:pt>
                <c:pt idx="5">
                  <c:v>15792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1D-462F-A4FF-E19A8B511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36847"/>
        <c:axId val="862014671"/>
      </c:barChart>
      <c:catAx>
        <c:axId val="956836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4671"/>
        <c:crosses val="autoZero"/>
        <c:auto val="1"/>
        <c:lblAlgn val="ctr"/>
        <c:lblOffset val="100"/>
        <c:noMultiLvlLbl val="0"/>
      </c:catAx>
      <c:valAx>
        <c:axId val="8620146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36847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47249-CF35-4CBE-A577-B27F6A2E224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3E08D-3C97-4793-ABAB-36273ED08A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1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72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3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23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2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306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96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B368-1D42-D363-48A8-B86F4EAC2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01CF8-AB02-AE85-98CF-13E6E3E6B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79E-96B2-F844-34DB-D9EA66D7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DC84-29F1-5ECB-CAFE-20442BBF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8A0F-13E9-941A-3315-057F3C67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1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08D6-DD4B-1378-8F04-D838663FF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2A37-1BF6-52AC-BEFC-35C2A24B5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40624-9932-E184-0FE7-7DFE71A7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D733-678F-7125-EB38-75D62B6F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B13DE-2EFD-7FB0-2FFC-648FC085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56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4A96-987D-A20B-F16F-A7E5F612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A4CC9-F84B-7E4C-AFC1-C9AC84F3F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6DE8-7B5B-5E90-771C-D2DEA320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9ABBD-C0DF-15EF-2E88-471EE97F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D70C-4CF7-A49E-F53C-E23C7F12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9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08F9-A519-CC7F-498E-25D521A1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96FCB-B879-6A2D-4A96-7320CEE4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147B1-C3DF-D214-8694-CD8F6EA59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3EF12-3975-AEC1-5379-BC09E392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0C555-7EF3-2036-F223-90D81CC9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35C0-6FF8-62AB-81F0-B6BE41D5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31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1765-5E1B-C9FB-1F8C-A2698C76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1C440-4034-E4D1-9678-1C485DB0C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A4822-E7E6-752C-D431-D07F4540E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1B98D-6E3C-49AD-C65E-D6793D026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A22FF-C2C2-A708-41C8-8CA0ECA8A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3DD14-0B91-5830-971D-6A1FF8AB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EA996-7314-21B6-7538-05516125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6C819-C86C-E2A2-294E-337E1A95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8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37D3-5E4B-5F0E-8B20-283DDE83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8E8AB-511A-A73D-AE1E-A6AE60BE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E8B23-F22E-4422-FD55-A757BD37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1530B-6919-31E3-58F4-2CFCFDF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8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12659-461E-191D-A095-C7DB2FAA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EABEE-7EFD-9256-9869-7E79B880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8FB09-9310-0787-EBBD-10673079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86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682A-E57A-2E03-3FE1-1C8949A1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B67AD-E6A9-4E66-C8C6-B4F7086C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9F913-5686-3352-CC31-1AC7C93D2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6BF31-6306-BB2D-FB85-F8470FAB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97A02-F85A-0B54-5AA0-8540BAAE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5EBBA-FC4D-7340-597E-6154C098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50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25B3-2153-BA9B-327F-91BBE1E7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3614C-B66E-BB0C-AB9C-AB6C5C681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B569-FE70-C596-E532-333CE1145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288D1-5B23-3F00-F1EE-FE215996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1FF57-41C0-726B-5C1F-FC9021D1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F74F9-BE58-17F0-4E53-1071F2FA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84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902C-3ED3-7324-6806-3CE388E7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BB1E1-F721-CBC1-7649-88320D449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F360-F9F2-552C-1957-B1EB0A4A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FDC0F-CC2E-82C2-B3CD-02C570B5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E479-A1FE-61A5-298C-B8C10A77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17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E2487-F72C-337A-9C3D-72CADE57C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2A28F-E10E-541F-2437-2513F2D0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87BF6-45DF-B9F4-6BFA-0D369859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8538-FB69-297E-0337-6C271A96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E78B-6483-0CD6-C879-326E2ABD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36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45653-4A68-C9BE-6DE5-207E86C2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4133F-1296-EE2A-F656-22B7B578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BFDF6-6B27-F2D0-6AD4-497707A25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4A1C5-DA40-4454-9CC5-23C129620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89D78-3805-C653-0FBA-9BF32A505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55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chart" Target="../charts/chart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chart" Target="../charts/chart3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notesSlide" Target="../notesSlides/notesSlide4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21" Type="http://schemas.openxmlformats.org/officeDocument/2006/relationships/tags" Target="../tags/tag63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notesSlide" Target="../notesSlides/notesSlide5.xml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3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57891-56B0-3E1C-A218-58BF764368C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30DB8-11E7-7ADF-CBDA-6A765A06F2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South and West lead the June mix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6AD774-61D3-9C44-C267-A7B07C1D334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93825809"/>
              </p:ext>
            </p:extLst>
          </p:nvPr>
        </p:nvGraphicFramePr>
        <p:xfrm>
          <a:off x="463296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3EB4FB-694F-2C50-17EA-E6F975DEBD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39C9E-9BE6-7183-0DA4-C72FF848C0F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A7BFA-76EE-DB62-2E0D-9FC002647FA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9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6BC2F-3276-B421-70F1-6C33B48989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 across May and June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99C23-0CBD-E137-3EE0-0EBD32B6E0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Compare every group using the same EUR scale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8F81D6A-2864-89EB-811E-10B8227C892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569510777"/>
              </p:ext>
            </p:extLst>
          </p:nvPr>
        </p:nvGraphicFramePr>
        <p:xfrm>
          <a:off x="463296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13BD4A-4825-374D-CC3A-C316C5B601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FEF6C-D836-B725-B944-7367D3AD9B0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03E58-C843-A8E9-C2FC-00B348C253C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28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8B8E23-82D6-C37F-EAEA-BA63D39F42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Six group monthly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18ECE-01F1-2BC1-3FC0-7E11DAB7C10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6411F8A-C39F-286A-FE6D-8D2D9189362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8547631"/>
              </p:ext>
            </p:extLst>
          </p:nvPr>
        </p:nvGraphicFramePr>
        <p:xfrm>
          <a:off x="463296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F77652-BF99-55D7-83E9-FA0C8E57B79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45752-B6AC-CDC5-DF71-8BE606C669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9701D-B549-C122-EFEA-779330E5997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57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7F3A6-E19C-8311-8587-98AB983B2A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Data quality checks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5976E-B18A-3F8C-902B-D32F24F196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9B448-9821-F6C5-E54F-0ED89AB5AE1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538730"/>
            <a:ext cx="3535003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413E9-4E56-D45C-84E5-5EAD8F854E0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538730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BC478-FF20-ECD9-8229-FADA0AFAFE8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8CBCA-67E0-6085-D732-21CC6FF95D3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source rows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E0E61-5D73-48B4-F225-7B5FC75F345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Six complete periods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C400-4064-D5C4-2BC8-3FD917F513C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025D2-39A6-0C03-49E9-E84C9DA7627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C498C-0562-39CB-4B45-797ACF942C3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D9E611-7BE9-91E4-42AB-31CABCAACE9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IDs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431964-EBF7-1D82-375A-75A638E6A4B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Every row counted once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79863-9BDB-F6B6-8D06-DBC008CE92B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5895EE-52E8-63B4-53E0-C5421420F63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35D576-8537-0ABA-DAAF-34798870769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7D1392-A5AD-9601-6702-C0A4C9A9EEA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FE3C68-A001-B040-8184-1B01C081DCE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Missing inputs stay unknown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0234F-D210-45FC-E571-EB3DFA1C148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5D7F5-500E-9894-43A4-585D71D4B9B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FB8C6-3D6A-22C4-B87F-1A82394E69C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8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347FF-E8AC-0427-2BEE-0649660864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Why the June summary is traceable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4611-DCAB-B860-A5D9-545A72E7A9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Each statement can be checked in the source workbook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9322C-E68E-E4A3-84B5-02C5F8BDA1C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329868"/>
            <a:ext cx="3535003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1C2BA-A717-F5BB-7DD7-8DB5C94BBCB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329868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AA2DC-D366-E68D-9717-D8569A78C5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Range 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8B4CE-FE91-76CC-251F-D9B3B4B0B5F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231568"/>
            <a:ext cx="3179402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ledger includes all records from January through June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4DA2B-95FF-C305-6DA7-A321BA7721D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210671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period was inferred from display formatting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6F77B-10EB-E7E7-B415-0C4B72D1E6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2BC95-1247-6AD7-F850-9360F7F7A9E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DB67E-2D4F-4C69-34A5-DEFA6BE86D9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Identifier checks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58299-AAC2-5655-DAAB-D7C87E48A36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Each source row has a distinct identifier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24EFF-E493-78BB-F4A6-3F47BF6E89C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duplicated row contributes twice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BB21C5-8AD9-E739-4D5F-629E380ACE7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CB70F-317B-B0CE-3617-5D68E1E7735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88C027-E72C-963A-5E05-5C1E4D155D1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Calculation 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1E515-9646-11F5-335D-69231DCEAB0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Gross margin uses total revenue and total cost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B44C2F-B28A-89A2-D062-70B1895E001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Blank inputs are not substituted with zero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426897-C45D-36E0-32D0-EB38AFD7A6C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0DDC36-7B41-A7BB-38C1-26C90764EE4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EC3F8F-F4FF-0038-74EF-F1EF61F3881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123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36D72-D65D-BD97-33B6-D57F983B84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Evidence and limits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2703D-085D-64B9-92C8-B6E3AD46A47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08017-2B53-721A-9023-C5A24BC1AF9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6EBFD-DB86-37E8-065C-0711DD3150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58AF4-DC60-81E5-1584-2CADF75B576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F4957-61A6-6FED-D461-C83613A376D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144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0E4A1-0F94-CFD5-D632-D485A9A37D2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records across six months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D5BD-0587-D43F-7531-00A2E3818D7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41096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Four operating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9ABA5-A8B5-9B67-44A3-AA3D1D95A64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C2271-1C5E-3F39-3C34-EBCD03553FB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AE1E9-40AF-DDC2-5576-6C324E578E6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7D6DF0-25AE-B004-377C-7134DD83414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C92D3-DDBA-596D-CE32-BD5267CF9A1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38900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row IDs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599B06-B560-3A15-32DD-FA72E4ACED2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38900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0 blank revenue cells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4A92C-FCBF-8E88-DCF6-BBAF4B145D8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EFA56-4AE4-6454-729B-382CF4847B4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90827-501F-B154-3D45-C3C94BB6CDA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Calculation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72220-A313-FF99-9522-A4A4D3C1F5F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41096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B410D-9873-5115-356F-26C8DA1063A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41096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Precision is retained before display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2E395-01A6-22BF-0A7F-F918844824B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198ACB-2535-CF7A-71C2-08842C71410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2389C8-E69A-81B5-39A8-CC5CBBD4D5A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Limits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C65B07-D21A-6EF9-7DB8-D9535CC2C97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438900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History ends in May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A7286F-96F9-AB70-219F-69D9883FF22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438900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June is sourced from the ledger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E2858-C366-0204-4EFC-2CAFA7C20E35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CF65A9-5055-ACAC-3CFC-32CB798EA5B9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F1A584-EEC5-F071-23DF-7789C732B456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3217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Custom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2026-09-24T11:37:58Z</dcterms:created>
  <dcterms:modified xsi:type="dcterms:W3CDTF">2026-09-24T11:37:58Z</dcterms:modified>
</cp:coreProperties>
</file>