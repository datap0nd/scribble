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2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3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9BD5"/>
              </a:solidFill>
              <a:ln w="25400">
                <a:solidFill>
                  <a:srgbClr val="4F81B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A8E-4400-ABA3-4A7E799BE28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May</c:v>
                </c:pt>
                <c:pt idx="1">
                  <c:v>June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85519</c:v>
                </c:pt>
                <c:pt idx="1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8E-4400-ABA3-4A7E799BE2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03193008"/>
        <c:axId val="861950831"/>
      </c:barChart>
      <c:catAx>
        <c:axId val="80319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1950831"/>
        <c:crosses val="autoZero"/>
        <c:auto val="1"/>
        <c:lblAlgn val="ctr"/>
        <c:lblOffset val="100"/>
        <c:noMultiLvlLbl val="0"/>
      </c:catAx>
      <c:valAx>
        <c:axId val="86195083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3193008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Recognized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EUR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9BD5"/>
              </a:solidFill>
              <a:ln w="25400">
                <a:solidFill>
                  <a:srgbClr val="4F81B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05-4AEA-9A7F-41AA52C51B1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May 2026</c:v>
                </c:pt>
                <c:pt idx="1">
                  <c:v>June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85519</c:v>
                </c:pt>
                <c:pt idx="1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05-4AEA-9A7F-41AA52C51B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71343183"/>
        <c:axId val="862006511"/>
      </c:barChart>
      <c:catAx>
        <c:axId val="871343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06511"/>
        <c:crosses val="autoZero"/>
        <c:auto val="1"/>
        <c:lblAlgn val="ctr"/>
        <c:lblOffset val="100"/>
        <c:noMultiLvlLbl val="0"/>
      </c:catAx>
      <c:valAx>
        <c:axId val="86200651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1343183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80120</c:v>
                </c:pt>
                <c:pt idx="1">
                  <c:v>83450</c:v>
                </c:pt>
                <c:pt idx="2">
                  <c:v>85519</c:v>
                </c:pt>
                <c:pt idx="3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15-4877-89F6-9CC54D30BE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56842415"/>
        <c:axId val="862035311"/>
      </c:barChart>
      <c:catAx>
        <c:axId val="956842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35311"/>
        <c:crosses val="autoZero"/>
        <c:auto val="1"/>
        <c:lblAlgn val="ctr"/>
        <c:lblOffset val="100"/>
        <c:noMultiLvlLbl val="0"/>
      </c:catAx>
      <c:valAx>
        <c:axId val="86203531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6842415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F18D5-BA3E-4B29-8237-CF3BF2FEFD14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2250C-68EC-4A77-AB12-F2E884968F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861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225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751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047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824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513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125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CA796-E0D0-5773-2727-4471C8FA8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E2CF3-D072-4AD2-0275-F62D2C0C6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10F4F-7A59-AB23-A61E-2815E8A90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73040-5A30-B110-976A-F5E2A064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0E393-7EB4-43E2-2A3D-21F2F14D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20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585EE-55A4-E68D-7206-A05BD7975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1D697-16AE-4D50-E5AA-1D4AF3FE0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90872-D310-C4E5-FC41-264A9C2AB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7ACBD-42FB-D89A-AEB0-BE4FE045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36AC4-7EDA-4D0B-3243-8DC8584C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933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EBC6-A432-C2CC-DFA1-57B9363D4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8BC7C-D216-EBED-A4D9-DBDED8CB4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F81D7-EB3E-227E-E069-37DDC890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9107C-C49E-F367-03EA-F80E7B42C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86299-2188-0812-36D5-911077492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2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7BA7E-CF7F-4AD7-2EE6-79F0E3953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ADEF5-ACC8-BECA-1058-7C7BE54CC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48D96-444F-A2D8-AAA6-5D8183031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17192-5742-0557-8A00-5539624E3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C7F68-02E1-7321-FC9E-D108F5055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D2E98-4163-E156-E90C-C6DD0C12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200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D8F6F-6E17-37BE-FB8E-35130605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0FC66-0668-1A28-F232-12C83947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49B99-E397-4BF0-2229-51A1B8392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93036-8539-804C-86B2-4AC34FD16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CAEB2F-55B6-D9C6-44CB-9C3C6A326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3DBD55-3BE2-C2DF-547E-97704741C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D67FB8-2DE5-7105-77C3-27938A408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8CC72D-FD17-904B-57B6-36EFB920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820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8688-41B5-A8C6-7578-A67B87D2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B72D9-0F34-9516-5913-EC076859D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86617-8948-CF55-7BAD-9B1DD99ED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DE5B5-46B1-651D-F3B2-03409C08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022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3F8A-7F12-DBF1-9AF6-E9C948620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886513-346E-30FA-4FC9-7557EDBF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38582-AB47-C10B-6F3A-D2829668D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991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FA9A-A769-393E-E7B8-600DFA69E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636D1-1352-DA46-F7F3-9FFD1AF6E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DACA7-9846-4A24-5931-B005B98D2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B830A-0D58-50D6-A505-A0EE98EE3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1F46D-F435-3B4D-7928-966D4F59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D764E-0236-53B9-320C-D0E375DCB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39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A20D-A193-4BCF-C155-9B53D9BA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18F12-0976-7004-E94B-86F7C8838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D85C1-F8D1-51F8-1138-22802FC64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3244F-5D4F-01D8-5A3B-5E960F09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6CA90-5B46-3B00-83B7-725EE1AFA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FF686-E4DD-FB9E-49DC-6BA64335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273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FB42-C22A-3810-6692-D1A10878B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7D2C6-FFA8-9B56-254E-F162A48F4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11482-63B7-B017-01F3-13A0968A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CBB51-2A56-FA6D-67DF-786D2EECC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3A32B-15A3-7ED1-4DE9-E1720228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974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8F61D0-931F-B11F-2D59-43640540C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B8F7CB-30DF-5FE9-AF35-4FCC053AC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82AA1-2A3B-1883-FA6B-80C13192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355AC-59F2-CBF1-9779-ACFF5373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A6803-9433-28F7-C994-EC159B58B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48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2D86FB-A00C-75D2-4431-4676F0784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2420A-216F-E697-6E2E-8E5007148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4E726-B8FE-339B-E484-B5E9CD026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25540-6625-90BA-8F57-0F85100C3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04BC3-D697-8F71-2E53-EC19A1C7D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840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3" Type="http://schemas.openxmlformats.org/officeDocument/2006/relationships/tags" Target="../tags/tag19.xml"/><Relationship Id="rId21" Type="http://schemas.openxmlformats.org/officeDocument/2006/relationships/tags" Target="../tags/tag37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20" Type="http://schemas.openxmlformats.org/officeDocument/2006/relationships/tags" Target="../tags/tag36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23" Type="http://schemas.openxmlformats.org/officeDocument/2006/relationships/notesSlide" Target="../notesSlides/notesSlide2.xml"/><Relationship Id="rId10" Type="http://schemas.openxmlformats.org/officeDocument/2006/relationships/tags" Target="../tags/tag26.xml"/><Relationship Id="rId19" Type="http://schemas.openxmlformats.org/officeDocument/2006/relationships/tags" Target="../tags/tag35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tags" Target="../tags/tag50.xml"/><Relationship Id="rId18" Type="http://schemas.openxmlformats.org/officeDocument/2006/relationships/tags" Target="../tags/tag55.xml"/><Relationship Id="rId26" Type="http://schemas.openxmlformats.org/officeDocument/2006/relationships/tags" Target="../tags/tag63.xml"/><Relationship Id="rId3" Type="http://schemas.openxmlformats.org/officeDocument/2006/relationships/tags" Target="../tags/tag40.xml"/><Relationship Id="rId21" Type="http://schemas.openxmlformats.org/officeDocument/2006/relationships/tags" Target="../tags/tag58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17" Type="http://schemas.openxmlformats.org/officeDocument/2006/relationships/tags" Target="../tags/tag54.xml"/><Relationship Id="rId25" Type="http://schemas.openxmlformats.org/officeDocument/2006/relationships/tags" Target="../tags/tag62.xml"/><Relationship Id="rId2" Type="http://schemas.openxmlformats.org/officeDocument/2006/relationships/tags" Target="../tags/tag39.xml"/><Relationship Id="rId16" Type="http://schemas.openxmlformats.org/officeDocument/2006/relationships/tags" Target="../tags/tag53.xml"/><Relationship Id="rId20" Type="http://schemas.openxmlformats.org/officeDocument/2006/relationships/tags" Target="../tags/tag57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24" Type="http://schemas.openxmlformats.org/officeDocument/2006/relationships/tags" Target="../tags/tag61.xml"/><Relationship Id="rId5" Type="http://schemas.openxmlformats.org/officeDocument/2006/relationships/tags" Target="../tags/tag42.xml"/><Relationship Id="rId15" Type="http://schemas.openxmlformats.org/officeDocument/2006/relationships/tags" Target="../tags/tag52.xml"/><Relationship Id="rId23" Type="http://schemas.openxmlformats.org/officeDocument/2006/relationships/tags" Target="../tags/tag60.xml"/><Relationship Id="rId28" Type="http://schemas.openxmlformats.org/officeDocument/2006/relationships/notesSlide" Target="../notesSlides/notesSlide3.xml"/><Relationship Id="rId10" Type="http://schemas.openxmlformats.org/officeDocument/2006/relationships/tags" Target="../tags/tag47.xml"/><Relationship Id="rId19" Type="http://schemas.openxmlformats.org/officeDocument/2006/relationships/tags" Target="../tags/tag56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tags" Target="../tags/tag51.xml"/><Relationship Id="rId22" Type="http://schemas.openxmlformats.org/officeDocument/2006/relationships/tags" Target="../tags/tag59.xml"/><Relationship Id="rId27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chart" Target="../charts/chart1.xml"/><Relationship Id="rId5" Type="http://schemas.openxmlformats.org/officeDocument/2006/relationships/tags" Target="../tags/tag68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67.xml"/><Relationship Id="rId9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chart" Target="../charts/chart2.xml"/><Relationship Id="rId5" Type="http://schemas.openxmlformats.org/officeDocument/2006/relationships/tags" Target="../tags/tag76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75.xml"/><Relationship Id="rId9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chart" Target="../charts/chart3.xml"/><Relationship Id="rId5" Type="http://schemas.openxmlformats.org/officeDocument/2006/relationships/tags" Target="../tags/tag84.xml"/><Relationship Id="rId10" Type="http://schemas.openxmlformats.org/officeDocument/2006/relationships/notesSlide" Target="../notesSlides/notesSlide6.xml"/><Relationship Id="rId4" Type="http://schemas.openxmlformats.org/officeDocument/2006/relationships/tags" Target="../tags/tag83.xml"/><Relationship Id="rId9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306D19-E354-B6F1-2EC2-DFDD7D45156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operating snapshot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49E730-58D8-6004-20ED-4C15F3A9479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Revenue and cost from the same ledger period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27323A-A4C3-FE67-B1C6-FC897431437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3984" y="2321560"/>
            <a:ext cx="5347716" cy="2489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C01BD-D8E3-EB81-36F4-69AFA8279BE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3984" y="2321560"/>
            <a:ext cx="5347716" cy="762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1FD94-8E8A-4860-D71B-ED7E6013AA1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11784" y="2524760"/>
            <a:ext cx="4992116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FFFFFF"/>
                </a:solidFill>
                <a:latin typeface="Arial" panose="020B0604020202020204" pitchFamily="34" charset="0"/>
              </a:rPr>
              <a:t>REVENUE EUR</a:t>
            </a:r>
          </a:p>
        </p:txBody>
      </p:sp>
      <p:sp>
        <p:nvSpPr>
          <p:cNvPr id="7" name="TextBox 6" hidden="1">
            <a:extLst>
              <a:ext uri="{FF2B5EF4-FFF2-40B4-BE49-F238E27FC236}">
                <a16:creationId xmlns:a16="http://schemas.microsoft.com/office/drawing/2014/main" id="{D6152E1A-DD9A-4735-23B7-845BA3FA879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11784" y="3096260"/>
            <a:ext cx="4992116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05F4B-6DD0-E2D1-ABFC-494A71F2FD5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11784" y="4023360"/>
            <a:ext cx="4992116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FFFFFF"/>
                </a:solidFill>
                <a:latin typeface="Arial" panose="020B0604020202020204" pitchFamily="34" charset="0"/>
              </a:rPr>
              <a:t>June total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836F6D-A825-5C2E-EE1C-762A8D79F92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210300" y="2321560"/>
            <a:ext cx="5347715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717AC3-F826-0779-40A9-EED125758355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10300" y="2321560"/>
            <a:ext cx="5347715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8B3CDA-F4A4-1B3B-9F3A-7298A06E68E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388100" y="2524760"/>
            <a:ext cx="4992116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COST EUR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0AA597-3D35-BF97-387D-D1CF0F9639A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388100" y="3096260"/>
            <a:ext cx="4992116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613094-8F62-CC09-4D94-FAC4509724D8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88100" y="4023360"/>
            <a:ext cx="4992116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June total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07D1E6-49C9-F7B2-5B74-681418CDCEA8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30D351-9643-3BB9-369F-2F7B9F4B2A5D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- 1 -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FCB900-E549-C4FC-30A2-04B1D88ADDCA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1654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5884ED-6079-021B-2404-20D3B42245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results across the complete operating ledger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87710-4685-AADB-09F9-9A7F6D482F7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The figures use the full month, with no missing rows treated as zero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5A271-D258-E879-0AA7-AF12B6D3C99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3984" y="2321560"/>
            <a:ext cx="3488944" cy="2489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4380DB-7368-F6FC-52A7-561D960C1F0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3984" y="2321560"/>
            <a:ext cx="3488944" cy="762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E27D43-2962-0B14-977F-F358FC25AA2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11784" y="2524760"/>
            <a:ext cx="3133344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FFFFFF"/>
                </a:solidFill>
                <a:latin typeface="Arial" panose="020B0604020202020204" pitchFamily="34" charset="0"/>
              </a:rPr>
              <a:t>RECOGNIZED REVENUE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54CBA-6704-CFAB-768B-191F038ADDF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11784" y="3096260"/>
            <a:ext cx="3133344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 b="1">
                <a:solidFill>
                  <a:srgbClr val="FFFFFF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76D0A-A8D6-6872-6020-EA255683273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11784" y="4023360"/>
            <a:ext cx="3133344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FFFFFF"/>
                </a:solidFill>
                <a:latin typeface="Arial" panose="020B0604020202020204" pitchFamily="34" charset="0"/>
              </a:rPr>
              <a:t>All four operating groups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E57DF7-A9CA-6209-5D5A-79326F3D159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351528" y="2321560"/>
            <a:ext cx="3488944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C91DF5-AEE1-3586-1B36-87450FDD1499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351528" y="2321560"/>
            <a:ext cx="3488944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6F432-27BA-D836-56DF-3D34284A9D8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529328" y="2524760"/>
            <a:ext cx="3133344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RECORDED OPERATING COST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717DEE-1C58-7209-6B15-06E83E59B54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529328" y="3096260"/>
            <a:ext cx="3133344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2672F7-6372-4AD4-F5BB-9BE987CFB79C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529328" y="4023360"/>
            <a:ext cx="3133344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All four operating groups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0E73A-F1ED-CE0F-27DB-CFDDBBCB1047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8069072" y="2321560"/>
            <a:ext cx="3488943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7A56F2-9344-C8AC-3A05-51E91A29F93D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069072" y="2321560"/>
            <a:ext cx="3488943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C887D-3967-44AF-34C6-9C2F5DFB0EC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246872" y="2524760"/>
            <a:ext cx="3133344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GROSS MARGIN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954A34-2E36-BE11-4DA2-342FCDFDE134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246872" y="3096260"/>
            <a:ext cx="3133344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55.76%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AE0F39-C54A-F089-524A-0CB8FE3D953B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246872" y="4023360"/>
            <a:ext cx="3133344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Calculated from aggregate totals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A5DD19-8B40-7BDA-D187-07671BF2F8DE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DC4117-4C91-6848-60CE-001C2A7CF594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- 2 -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6BD740-7326-44C1-B302-FB629F652589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376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F4CEC3-0EE2-366A-33EB-B8BA0B21143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143000" cy="571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FAE4A-D889-7388-30CB-544F3ED9CB6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Complete period; four verified measures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2FD24-E42A-D8DB-BB42-FBB1D37ABC6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3984" y="2321560"/>
            <a:ext cx="2559558" cy="2489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BB034D-03BA-4CE1-1F14-8D622B82644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3984" y="2321560"/>
            <a:ext cx="2559558" cy="762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B6397-0EB2-6C6C-35D0-72A241B15E4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11784" y="2524760"/>
            <a:ext cx="2203958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FFFFFF"/>
                </a:solidFill>
                <a:latin typeface="Arial" panose="020B0604020202020204" pitchFamily="34" charset="0"/>
              </a:rPr>
              <a:t>REVENUE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9C63FE-BA44-D392-0063-CC4B0662FFF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11784" y="3096260"/>
            <a:ext cx="2203958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81779-88D9-F69A-2441-D28D419D0B8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11784" y="4023360"/>
            <a:ext cx="2203958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FFFFFF"/>
                </a:solidFill>
                <a:latin typeface="Arial" panose="020B0604020202020204" pitchFamily="34" charset="0"/>
              </a:rPr>
              <a:t>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780B18-8790-F286-B40E-57DAA6DB74A8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422142" y="2321560"/>
            <a:ext cx="2559558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77A859-2A25-4C08-D8F4-609453B5079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422142" y="2321560"/>
            <a:ext cx="2559558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A9F812-FD3A-51F0-5255-2AE41A93466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3599942" y="2524760"/>
            <a:ext cx="2203958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COST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FDF6B0-DB70-4D0D-C8AA-49A3A3C5A30F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599942" y="3096260"/>
            <a:ext cx="2203958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DD22ED-2284-45D0-F30F-9E22DBB3518A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599942" y="4023360"/>
            <a:ext cx="2203958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EUR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90EDDA-F399-F298-4483-6557D88AA25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210300" y="2321560"/>
            <a:ext cx="2559558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3458DD-0C71-E478-02A6-CC5219F0302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210300" y="2321560"/>
            <a:ext cx="2559558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C6FD3C-4ED6-2314-3DDC-0FE0D3DD170E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388100" y="2524760"/>
            <a:ext cx="2203958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GROSS PROFIT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CD8900-8B1F-01BE-C8CC-F57819EF8DFC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388100" y="3096260"/>
            <a:ext cx="2203958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46,278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0ACDB1-8614-384A-23A8-B2DB6D26AC7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388100" y="4023360"/>
            <a:ext cx="2203958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EUR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B190F0-A049-F80F-9FE4-D920B8E052D1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8998458" y="2321560"/>
            <a:ext cx="2559557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D7F838-46D6-F005-57D3-1C0D794BD99E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8998458" y="2321560"/>
            <a:ext cx="2559557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61E83-03F9-020E-11DD-F095208090EC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9176258" y="2524760"/>
            <a:ext cx="2203958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MARGIN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E9A16F-BA9C-C698-673B-2D6022FC80E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9176258" y="3096260"/>
            <a:ext cx="2203958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55.76%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D482D0-B033-1A22-0BD7-8BCE590352B4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9176258" y="4023360"/>
            <a:ext cx="2203958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Aggregate rate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D77374-5777-57B3-50E4-65B3E85BC96F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963AA1-FB13-F3E5-3088-BE1D8DA598DE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- 3 -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BC4F6A-3F40-A40A-27AC-BD3F3ADAB30F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434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410F20-520D-C931-F142-D829E9F7F3F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May to June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0117A5-1B64-6FF0-FA92-C5F543BB3FF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81E620-A93E-A9E6-5941-4011424B7682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03476559"/>
              </p:ext>
            </p:extLst>
          </p:nvPr>
        </p:nvGraphicFramePr>
        <p:xfrm>
          <a:off x="585216" y="2057400"/>
          <a:ext cx="5145024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037">
                  <a:extLst>
                    <a:ext uri="{9D8B030D-6E8A-4147-A177-3AD203B41FA5}">
                      <a16:colId xmlns:a16="http://schemas.microsoft.com/office/drawing/2014/main" val="847142178"/>
                    </a:ext>
                  </a:extLst>
                </a:gridCol>
                <a:gridCol w="1533993">
                  <a:extLst>
                    <a:ext uri="{9D8B030D-6E8A-4147-A177-3AD203B41FA5}">
                      <a16:colId xmlns:a16="http://schemas.microsoft.com/office/drawing/2014/main" val="3079330743"/>
                    </a:ext>
                  </a:extLst>
                </a:gridCol>
                <a:gridCol w="1533993">
                  <a:extLst>
                    <a:ext uri="{9D8B030D-6E8A-4147-A177-3AD203B41FA5}">
                      <a16:colId xmlns:a16="http://schemas.microsoft.com/office/drawing/2014/main" val="1761535077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Metric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May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June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61259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85,519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00127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060491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8475199-1802-6156-7AA5-DE4F39AD6705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28181965"/>
              </p:ext>
            </p:extLst>
          </p:nvPr>
        </p:nvGraphicFramePr>
        <p:xfrm>
          <a:off x="4460239" y="1851660"/>
          <a:ext cx="5388864" cy="3287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B7CE72B-0F69-D8A0-3C23-0041246DE24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B7FBD-35F8-8E5F-1D21-C91E4028875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26957-65E3-8694-8EA8-25429CD6928F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4745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3B872-2B45-686B-B63A-E73B905CB32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Revenue and cost across two reporting periods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06347F-46C3-417C-2CDA-67780EB758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Values are shown in EUR and use the same source scope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C475FC-A727-3915-20C7-313C266648E8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764528000"/>
              </p:ext>
            </p:extLst>
          </p:nvPr>
        </p:nvGraphicFramePr>
        <p:xfrm>
          <a:off x="-1397000" y="2057400"/>
          <a:ext cx="5145024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484">
                  <a:extLst>
                    <a:ext uri="{9D8B030D-6E8A-4147-A177-3AD203B41FA5}">
                      <a16:colId xmlns:a16="http://schemas.microsoft.com/office/drawing/2014/main" val="2650297238"/>
                    </a:ext>
                  </a:extLst>
                </a:gridCol>
                <a:gridCol w="1369726">
                  <a:extLst>
                    <a:ext uri="{9D8B030D-6E8A-4147-A177-3AD203B41FA5}">
                      <a16:colId xmlns:a16="http://schemas.microsoft.com/office/drawing/2014/main" val="3716753882"/>
                    </a:ext>
                  </a:extLst>
                </a:gridCol>
                <a:gridCol w="1452814">
                  <a:extLst>
                    <a:ext uri="{9D8B030D-6E8A-4147-A177-3AD203B41FA5}">
                      <a16:colId xmlns:a16="http://schemas.microsoft.com/office/drawing/2014/main" val="200249661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Operating measure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May 2026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June 2026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58626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Recognized revenue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85,519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32868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Recorded operating cost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1902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Gross profit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48,817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46,278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7283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A19DE6E-24B7-B1AB-A45A-FADB96DEE51A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471710870"/>
              </p:ext>
            </p:extLst>
          </p:nvPr>
        </p:nvGraphicFramePr>
        <p:xfrm>
          <a:off x="6217920" y="1851660"/>
          <a:ext cx="5388864" cy="3287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DC5D7B4-0C0E-EEE3-C6B0-840F0BD420D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1A316-C891-492F-3ACD-0CFCAE3D902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- 5 -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F75A26-41D5-7FC3-A651-898CE9FC3CC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9015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DAF697-0E5D-50E7-2BA8-C7653ED9D88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Four period operating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CF7F37-3206-68A0-AD02-ACF8D239507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9B560E-E198-831A-416B-C0005DAF3C9A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686461704"/>
              </p:ext>
            </p:extLst>
          </p:nvPr>
        </p:nvGraphicFramePr>
        <p:xfrm>
          <a:off x="585216" y="2057400"/>
          <a:ext cx="5145024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900">
                  <a:extLst>
                    <a:ext uri="{9D8B030D-6E8A-4147-A177-3AD203B41FA5}">
                      <a16:colId xmlns:a16="http://schemas.microsoft.com/office/drawing/2014/main" val="3516399441"/>
                    </a:ext>
                  </a:extLst>
                </a:gridCol>
                <a:gridCol w="950281">
                  <a:extLst>
                    <a:ext uri="{9D8B030D-6E8A-4147-A177-3AD203B41FA5}">
                      <a16:colId xmlns:a16="http://schemas.microsoft.com/office/drawing/2014/main" val="1458116386"/>
                    </a:ext>
                  </a:extLst>
                </a:gridCol>
                <a:gridCol w="950281">
                  <a:extLst>
                    <a:ext uri="{9D8B030D-6E8A-4147-A177-3AD203B41FA5}">
                      <a16:colId xmlns:a16="http://schemas.microsoft.com/office/drawing/2014/main" val="2373061383"/>
                    </a:ext>
                  </a:extLst>
                </a:gridCol>
                <a:gridCol w="950281">
                  <a:extLst>
                    <a:ext uri="{9D8B030D-6E8A-4147-A177-3AD203B41FA5}">
                      <a16:colId xmlns:a16="http://schemas.microsoft.com/office/drawing/2014/main" val="1442504396"/>
                    </a:ext>
                  </a:extLst>
                </a:gridCol>
                <a:gridCol w="950281">
                  <a:extLst>
                    <a:ext uri="{9D8B030D-6E8A-4147-A177-3AD203B41FA5}">
                      <a16:colId xmlns:a16="http://schemas.microsoft.com/office/drawing/2014/main" val="1987165216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Measure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Mar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Apr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May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Jun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16971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80,120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83,450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85,519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9869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35,040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36,100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36,702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47296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Gross profit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45,080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47,350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48,817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46,278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91532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Margin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56.27%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56.74%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57.08%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55.76%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483520"/>
                  </a:ext>
                </a:extLst>
              </a:tr>
            </a:tbl>
          </a:graphicData>
        </a:graphic>
      </p:graphicFrame>
      <p:graphicFrame>
        <p:nvGraphicFramePr>
          <p:cNvPr id="5" name="Chart 4" hidden="1">
            <a:extLst>
              <a:ext uri="{FF2B5EF4-FFF2-40B4-BE49-F238E27FC236}">
                <a16:creationId xmlns:a16="http://schemas.microsoft.com/office/drawing/2014/main" id="{9E810632-BCC2-1618-CB9A-EEB5530E9375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384297884"/>
              </p:ext>
            </p:extLst>
          </p:nvPr>
        </p:nvGraphicFramePr>
        <p:xfrm>
          <a:off x="6217920" y="1851660"/>
          <a:ext cx="5388864" cy="3287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B816F3-8C4A-02C3-4EFF-FBF3DDF0426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E0C68-DB82-05C9-7D0E-CC83F464144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- 6 -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0DDC21-5FF8-960A-DD94-D3C65028F6E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15585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Microsoft Office PowerPoint</Application>
  <PresentationFormat>Widescreen</PresentationFormat>
  <Paragraphs>116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Narrow</vt:lpstr>
      <vt:lpstr>Calibri</vt:lpstr>
      <vt:lpstr>Samsung Sharp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</cp:revision>
  <dcterms:created xsi:type="dcterms:W3CDTF">2026-09-24T11:37:50Z</dcterms:created>
  <dcterms:modified xsi:type="dcterms:W3CDTF">2026-09-24T11:38:17Z</dcterms:modified>
</cp:coreProperties>
</file>