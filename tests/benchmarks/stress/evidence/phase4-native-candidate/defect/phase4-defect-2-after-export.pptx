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4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5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en-US" sz="1000" b="1">
                <a:solidFill>
                  <a:srgbClr val="404040"/>
                </a:solidFill>
                <a:latin typeface="Samsung Sharp Sans Bold"/>
              </a:rPr>
              <a:t>Revenue EUR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June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19219</c:v>
                </c:pt>
                <c:pt idx="1">
                  <c:v>22675</c:v>
                </c:pt>
                <c:pt idx="2">
                  <c:v>19054</c:v>
                </c:pt>
                <c:pt idx="3">
                  <c:v>22044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5-4B00-9A2D-F67EF6A090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50107232"/>
        <c:axId val="862000271"/>
      </c:barChart>
      <c:catAx>
        <c:axId val="650107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000271"/>
        <c:crosses val="autoZero"/>
        <c:auto val="1"/>
        <c:lblAlgn val="ctr"/>
        <c:lblOffset val="100"/>
        <c:noMultiLvlLbl val="0"/>
      </c:catAx>
      <c:valAx>
        <c:axId val="862000271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0107232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en-GB" sz="1000" b="1">
                <a:solidFill>
                  <a:srgbClr val="404040"/>
                </a:solidFill>
                <a:latin typeface="Samsung Sharp Sans Bold"/>
              </a:rPr>
              <a:t>Recognized revenue in EUR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Northern region</c:v>
                </c:pt>
                <c:pt idx="1">
                  <c:v>Southern region</c:v>
                </c:pt>
                <c:pt idx="2">
                  <c:v>Eastern region</c:v>
                </c:pt>
                <c:pt idx="3">
                  <c:v>Western region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20100</c:v>
                </c:pt>
                <c:pt idx="1">
                  <c:v>23020</c:v>
                </c:pt>
                <c:pt idx="2">
                  <c:v>19500</c:v>
                </c:pt>
                <c:pt idx="3">
                  <c:v>22899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F3-4EE5-B57E-88E8513E56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June</c:v>
                </c:pt>
              </c:strCache>
            </c:strRef>
          </c:tx>
          <c:spPr>
            <a:solidFill>
              <a:srgbClr val="5B9BD5"/>
            </a:solidFill>
            <a:ln w="25400">
              <a:solidFill>
                <a:srgbClr val="5B9BD5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Northern region</c:v>
                </c:pt>
                <c:pt idx="1">
                  <c:v>Southern region</c:v>
                </c:pt>
                <c:pt idx="2">
                  <c:v>Eastern region</c:v>
                </c:pt>
                <c:pt idx="3">
                  <c:v>Western region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19219</c:v>
                </c:pt>
                <c:pt idx="1">
                  <c:v>22675</c:v>
                </c:pt>
                <c:pt idx="2">
                  <c:v>19054</c:v>
                </c:pt>
                <c:pt idx="3">
                  <c:v>22044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F3-4EE5-B57E-88E8513E56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68170799"/>
        <c:axId val="862017551"/>
      </c:barChart>
      <c:catAx>
        <c:axId val="8681707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017551"/>
        <c:crosses val="autoZero"/>
        <c:auto val="1"/>
        <c:lblAlgn val="ctr"/>
        <c:lblOffset val="100"/>
        <c:noMultiLvlLbl val="0"/>
      </c:catAx>
      <c:valAx>
        <c:axId val="862017551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8170799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404040"/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en-GB" sz="1000" b="1">
                <a:solidFill>
                  <a:srgbClr val="404040"/>
                </a:solidFill>
                <a:latin typeface="Samsung Sharp Sans Bold"/>
              </a:rPr>
              <a:t>Revenue EUR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April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  <c:pt idx="4">
                  <c:v>Central</c:v>
                </c:pt>
                <c:pt idx="5">
                  <c:v>Online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12900</c:v>
                </c:pt>
                <c:pt idx="1">
                  <c:v>14100</c:v>
                </c:pt>
                <c:pt idx="2">
                  <c:v>11800</c:v>
                </c:pt>
                <c:pt idx="3">
                  <c:v>13500</c:v>
                </c:pt>
                <c:pt idx="4">
                  <c:v>14900</c:v>
                </c:pt>
                <c:pt idx="5">
                  <c:v>16250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1D-462F-A4FF-E19A8B511B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rgbClr val="5B9BD5"/>
            </a:solidFill>
            <a:ln w="25400">
              <a:solidFill>
                <a:srgbClr val="5B9BD5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  <c:pt idx="4">
                  <c:v>Central</c:v>
                </c:pt>
                <c:pt idx="5">
                  <c:v>Online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13200</c:v>
                </c:pt>
                <c:pt idx="1">
                  <c:v>14500</c:v>
                </c:pt>
                <c:pt idx="2">
                  <c:v>12000</c:v>
                </c:pt>
                <c:pt idx="3">
                  <c:v>13900</c:v>
                </c:pt>
                <c:pt idx="4">
                  <c:v>15100</c:v>
                </c:pt>
                <c:pt idx="5">
                  <c:v>16819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1D-462F-A4FF-E19A8B511B5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June</c:v>
                </c:pt>
              </c:strCache>
            </c:strRef>
          </c:tx>
          <c:spPr>
            <a:solidFill>
              <a:srgbClr val="596674"/>
            </a:solidFill>
            <a:ln w="25400">
              <a:solidFill>
                <a:srgbClr val="596674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  <c:pt idx="4">
                  <c:v>Central</c:v>
                </c:pt>
                <c:pt idx="5">
                  <c:v>Online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12800</c:v>
                </c:pt>
                <c:pt idx="1">
                  <c:v>14200</c:v>
                </c:pt>
                <c:pt idx="2">
                  <c:v>11700</c:v>
                </c:pt>
                <c:pt idx="3">
                  <c:v>13600</c:v>
                </c:pt>
                <c:pt idx="4">
                  <c:v>14900</c:v>
                </c:pt>
                <c:pt idx="5">
                  <c:v>15792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91D-462F-A4FF-E19A8B511B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56836847"/>
        <c:axId val="862014671"/>
      </c:barChart>
      <c:catAx>
        <c:axId val="9568368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014671"/>
        <c:crosses val="autoZero"/>
        <c:auto val="1"/>
        <c:lblAlgn val="ctr"/>
        <c:lblOffset val="100"/>
        <c:noMultiLvlLbl val="0"/>
      </c:catAx>
      <c:valAx>
        <c:axId val="862014671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6836847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404040"/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47249-CF35-4CBE-A577-B27F6A2E224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3E08D-3C97-4793-ABAB-36273ED08A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618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3E08D-3C97-4793-ABAB-36273ED08AE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0724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3E08D-3C97-4793-ABAB-36273ED08AE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732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3E08D-3C97-4793-ABAB-36273ED08AE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236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3E08D-3C97-4793-ABAB-36273ED08AE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4526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3E08D-3C97-4793-ABAB-36273ED08AE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2306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3E08D-3C97-4793-ABAB-36273ED08AE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8962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CB368-1D42-D363-48A8-B86F4EAC25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C01CF8-AB02-AE85-98CF-13E6E3E6B2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4379E-96B2-F844-34DB-D9EA66D77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BDC84-29F1-5ECB-CAFE-20442BBFF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28A0F-13E9-941A-3315-057F3C67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615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308D6-DD4B-1378-8F04-D838663FF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A2A37-1BF6-52AC-BEFC-35C2A24B5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40624-9932-E184-0FE7-7DFE71A7F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0D733-678F-7125-EB38-75D62B6F0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B13DE-2EFD-7FB0-2FFC-648FC085A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7565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D4A96-987D-A20B-F16F-A7E5F6121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A4CC9-F84B-7E4C-AFC1-C9AC84F3F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E6DE8-7B5B-5E90-771C-D2DEA320C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9ABBD-C0DF-15EF-2E88-471EE97FC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7D70C-4CF7-A49E-F53C-E23C7F121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191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F08F9-A519-CC7F-498E-25D521A18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96FCB-B879-6A2D-4A96-7320CEE49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147B1-C3DF-D214-8694-CD8F6EA59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3EF12-3975-AEC1-5379-BC09E392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0C555-7EF3-2036-F223-90D81CC9A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735C0-6FF8-62AB-81F0-B6BE41D5C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6314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D1765-5E1B-C9FB-1F8C-A2698C761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1C440-4034-E4D1-9678-1C485DB0C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A4822-E7E6-752C-D431-D07F4540E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71B98D-6E3C-49AD-C65E-D6793D0264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0A22FF-C2C2-A708-41C8-8CA0ECA8A1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C3DD14-0B91-5830-971D-6A1FF8AB8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AEA996-7314-21B6-7538-05516125E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96C819-C86C-E2A2-294E-337E1A95D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1875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937D3-5E4B-5F0E-8B20-283DDE83B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8E8AB-511A-A73D-AE1E-A6AE60BE9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7E8B23-F22E-4422-FD55-A757BD375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01530B-6919-31E3-58F4-2CFCFDFA0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685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E12659-461E-191D-A095-C7DB2FAAB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8EABEE-7EFD-9256-9869-7E79B880C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8FB09-9310-0787-EBBD-10673079B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867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F682A-E57A-2E03-3FE1-1C8949A18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B67AD-E6A9-4E66-C8C6-B4F7086CB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B9F913-5686-3352-CC31-1AC7C93D2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F6BF31-6306-BB2D-FB85-F8470FAB9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97A02-F85A-0B54-5AA0-8540BAAE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5EBBA-FC4D-7340-597E-6154C098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0501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D25B3-2153-BA9B-327F-91BBE1E78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C3614C-B66E-BB0C-AB9C-AB6C5C6810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B5B569-FE70-C596-E532-333CE1145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288D1-5B23-3F00-F1EE-FE215996B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1FF57-41C0-726B-5C1F-FC9021D1F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2F74F9-BE58-17F0-4E53-1071F2FA2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847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E902C-3ED3-7324-6806-3CE388E71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FBB1E1-F721-CBC1-7649-88320D449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4F360-F9F2-552C-1957-B1EB0A4A4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FDC0F-CC2E-82C2-B3CD-02C570B54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1E479-A1FE-61A5-298C-B8C10A77E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4179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9E2487-F72C-337A-9C3D-72CADE57CA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62A28F-E10E-541F-2437-2513F2D04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87BF6-45DF-B9F4-6BFA-0D3698590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98538-FB69-297E-0337-6C271A960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6E78B-6483-0CD6-C879-326E2ABDA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6369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445653-4A68-C9BE-6DE5-207E86C26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4133F-1296-EE2A-F656-22B7B578F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BFDF6-6B27-F2D0-6AD4-497707A253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4A1C5-DA40-4454-9CC5-23C129620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89D78-3805-C653-0FBA-9BF32A505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55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chart" Target="../charts/chart1.xml"/><Relationship Id="rId4" Type="http://schemas.openxmlformats.org/officeDocument/2006/relationships/tags" Target="../tags/tag4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10" Type="http://schemas.openxmlformats.org/officeDocument/2006/relationships/chart" Target="../charts/chart2.xml"/><Relationship Id="rId4" Type="http://schemas.openxmlformats.org/officeDocument/2006/relationships/tags" Target="../tags/tag1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10" Type="http://schemas.openxmlformats.org/officeDocument/2006/relationships/chart" Target="../charts/chart3.xml"/><Relationship Id="rId4" Type="http://schemas.openxmlformats.org/officeDocument/2006/relationships/tags" Target="../tags/tag18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tags" Target="../tags/tag34.xml"/><Relationship Id="rId18" Type="http://schemas.openxmlformats.org/officeDocument/2006/relationships/tags" Target="../tags/tag39.xml"/><Relationship Id="rId3" Type="http://schemas.openxmlformats.org/officeDocument/2006/relationships/tags" Target="../tags/tag24.xml"/><Relationship Id="rId21" Type="http://schemas.openxmlformats.org/officeDocument/2006/relationships/tags" Target="../tags/tag42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tags" Target="../tags/tag38.xml"/><Relationship Id="rId2" Type="http://schemas.openxmlformats.org/officeDocument/2006/relationships/tags" Target="../tags/tag23.xml"/><Relationship Id="rId16" Type="http://schemas.openxmlformats.org/officeDocument/2006/relationships/tags" Target="../tags/tag37.xml"/><Relationship Id="rId20" Type="http://schemas.openxmlformats.org/officeDocument/2006/relationships/tags" Target="../tags/tag41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5" Type="http://schemas.openxmlformats.org/officeDocument/2006/relationships/tags" Target="../tags/tag26.xml"/><Relationship Id="rId15" Type="http://schemas.openxmlformats.org/officeDocument/2006/relationships/tags" Target="../tags/tag36.xml"/><Relationship Id="rId23" Type="http://schemas.openxmlformats.org/officeDocument/2006/relationships/notesSlide" Target="../notesSlides/notesSlide4.xml"/><Relationship Id="rId10" Type="http://schemas.openxmlformats.org/officeDocument/2006/relationships/tags" Target="../tags/tag31.xml"/><Relationship Id="rId19" Type="http://schemas.openxmlformats.org/officeDocument/2006/relationships/tags" Target="../tags/tag40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tags" Target="../tags/tag35.xml"/><Relationship Id="rId22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tags" Target="../tags/tag55.xml"/><Relationship Id="rId18" Type="http://schemas.openxmlformats.org/officeDocument/2006/relationships/tags" Target="../tags/tag60.xml"/><Relationship Id="rId3" Type="http://schemas.openxmlformats.org/officeDocument/2006/relationships/tags" Target="../tags/tag45.xml"/><Relationship Id="rId21" Type="http://schemas.openxmlformats.org/officeDocument/2006/relationships/tags" Target="../tags/tag63.xml"/><Relationship Id="rId7" Type="http://schemas.openxmlformats.org/officeDocument/2006/relationships/tags" Target="../tags/tag49.xml"/><Relationship Id="rId12" Type="http://schemas.openxmlformats.org/officeDocument/2006/relationships/tags" Target="../tags/tag54.xml"/><Relationship Id="rId17" Type="http://schemas.openxmlformats.org/officeDocument/2006/relationships/tags" Target="../tags/tag59.xml"/><Relationship Id="rId2" Type="http://schemas.openxmlformats.org/officeDocument/2006/relationships/tags" Target="../tags/tag44.xml"/><Relationship Id="rId16" Type="http://schemas.openxmlformats.org/officeDocument/2006/relationships/tags" Target="../tags/tag58.xml"/><Relationship Id="rId20" Type="http://schemas.openxmlformats.org/officeDocument/2006/relationships/tags" Target="../tags/tag62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tags" Target="../tags/tag53.xml"/><Relationship Id="rId5" Type="http://schemas.openxmlformats.org/officeDocument/2006/relationships/tags" Target="../tags/tag47.xml"/><Relationship Id="rId15" Type="http://schemas.openxmlformats.org/officeDocument/2006/relationships/tags" Target="../tags/tag57.xml"/><Relationship Id="rId23" Type="http://schemas.openxmlformats.org/officeDocument/2006/relationships/notesSlide" Target="../notesSlides/notesSlide5.xml"/><Relationship Id="rId10" Type="http://schemas.openxmlformats.org/officeDocument/2006/relationships/tags" Target="../tags/tag52.xml"/><Relationship Id="rId19" Type="http://schemas.openxmlformats.org/officeDocument/2006/relationships/tags" Target="../tags/tag61.xml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tags" Target="../tags/tag56.xml"/><Relationship Id="rId22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tags" Target="../tags/tag76.xml"/><Relationship Id="rId18" Type="http://schemas.openxmlformats.org/officeDocument/2006/relationships/tags" Target="../tags/tag81.xml"/><Relationship Id="rId26" Type="http://schemas.openxmlformats.org/officeDocument/2006/relationships/tags" Target="../tags/tag89.xml"/><Relationship Id="rId3" Type="http://schemas.openxmlformats.org/officeDocument/2006/relationships/tags" Target="../tags/tag66.xml"/><Relationship Id="rId21" Type="http://schemas.openxmlformats.org/officeDocument/2006/relationships/tags" Target="../tags/tag84.xml"/><Relationship Id="rId7" Type="http://schemas.openxmlformats.org/officeDocument/2006/relationships/tags" Target="../tags/tag70.xml"/><Relationship Id="rId12" Type="http://schemas.openxmlformats.org/officeDocument/2006/relationships/tags" Target="../tags/tag75.xml"/><Relationship Id="rId17" Type="http://schemas.openxmlformats.org/officeDocument/2006/relationships/tags" Target="../tags/tag80.xml"/><Relationship Id="rId25" Type="http://schemas.openxmlformats.org/officeDocument/2006/relationships/tags" Target="../tags/tag88.xml"/><Relationship Id="rId2" Type="http://schemas.openxmlformats.org/officeDocument/2006/relationships/tags" Target="../tags/tag65.xml"/><Relationship Id="rId16" Type="http://schemas.openxmlformats.org/officeDocument/2006/relationships/tags" Target="../tags/tag79.xml"/><Relationship Id="rId20" Type="http://schemas.openxmlformats.org/officeDocument/2006/relationships/tags" Target="../tags/tag83.xml"/><Relationship Id="rId29" Type="http://schemas.openxmlformats.org/officeDocument/2006/relationships/slideLayout" Target="../slideLayouts/slideLayout7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tags" Target="../tags/tag74.xml"/><Relationship Id="rId24" Type="http://schemas.openxmlformats.org/officeDocument/2006/relationships/tags" Target="../tags/tag87.xml"/><Relationship Id="rId5" Type="http://schemas.openxmlformats.org/officeDocument/2006/relationships/tags" Target="../tags/tag68.xml"/><Relationship Id="rId15" Type="http://schemas.openxmlformats.org/officeDocument/2006/relationships/tags" Target="../tags/tag78.xml"/><Relationship Id="rId23" Type="http://schemas.openxmlformats.org/officeDocument/2006/relationships/tags" Target="../tags/tag86.xml"/><Relationship Id="rId28" Type="http://schemas.openxmlformats.org/officeDocument/2006/relationships/tags" Target="../tags/tag91.xml"/><Relationship Id="rId10" Type="http://schemas.openxmlformats.org/officeDocument/2006/relationships/tags" Target="../tags/tag73.xml"/><Relationship Id="rId19" Type="http://schemas.openxmlformats.org/officeDocument/2006/relationships/tags" Target="../tags/tag82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tags" Target="../tags/tag77.xml"/><Relationship Id="rId22" Type="http://schemas.openxmlformats.org/officeDocument/2006/relationships/tags" Target="../tags/tag85.xml"/><Relationship Id="rId27" Type="http://schemas.openxmlformats.org/officeDocument/2006/relationships/tags" Target="../tags/tag90.xml"/><Relationship Id="rId3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057891-56B0-3E1C-A218-58BF764368C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Revenue by operating group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30DB8-11E7-7ADF-CBDA-6A765A06F2C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South and West lead the June mix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26AD774-61D3-9C44-C267-A7B07C1D334E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104234377"/>
              </p:ext>
            </p:extLst>
          </p:nvPr>
        </p:nvGraphicFramePr>
        <p:xfrm>
          <a:off x="463296" y="1714500"/>
          <a:ext cx="1206500" cy="3674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73EB4FB-694F-2C50-17EA-E6F975DEBD4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439C9E-9BE6-7183-0DA4-C72FF848C0F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- 1 -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A7BFA-76EE-DB62-2E0D-9FC002647FA7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98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D6BC2F-3276-B421-70F1-6C33B48989B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Revenue by operating group across May and June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A99C23-0CBD-E137-3EE0-0EBD32B6E06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Compare every group using the same EUR scale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8F81D6A-2864-89EB-811E-10B8227C892E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258604731"/>
              </p:ext>
            </p:extLst>
          </p:nvPr>
        </p:nvGraphicFramePr>
        <p:xfrm>
          <a:off x="463296" y="190500"/>
          <a:ext cx="11265408" cy="3674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013BD4A-4825-374D-CC3A-C316C5B601B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8FEF6C-D836-B725-B944-7367D3AD9B0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- 2 -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003E58-C843-A8E9-C2FC-00B348C253CB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5280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8B8E23-82D6-C37F-EAEA-BA63D39F420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Six group monthly revenue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518ECE-01F1-2BC1-3FC0-7E11DAB7C10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6411F8A-C39F-286A-FE6D-8D2D9189362F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651285212"/>
              </p:ext>
            </p:extLst>
          </p:nvPr>
        </p:nvGraphicFramePr>
        <p:xfrm>
          <a:off x="11176000" y="1714500"/>
          <a:ext cx="11265408" cy="3674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8F77652-BF99-55D7-83E9-FA0C8E57B79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745752-B6AC-CDC5-DF71-8BE606C6694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- 3 -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D9701D-B549-C122-EFEA-779330E5997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8577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67F3A6-E19C-8311-8587-98AB983B2A1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Data quality checks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15976E-B18A-3F8C-902B-D32F24F1962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F9B448-9821-F6C5-E54F-0ED89AB5AE1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3296" y="2538730"/>
            <a:ext cx="3535003" cy="22606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8413E9-4E56-D45C-84E5-5EAD8F854E0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63296" y="2538730"/>
            <a:ext cx="3535003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6BC478-FF20-ECD9-8229-FADA0AFAFE8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41096" y="2741930"/>
            <a:ext cx="3179402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000" b="1">
                <a:solidFill>
                  <a:srgbClr val="4F81BD"/>
                </a:solidFill>
                <a:latin typeface="Arial" panose="020B0604020202020204" pitchFamily="34" charset="0"/>
              </a:rPr>
              <a:t>Coverage</a:t>
            </a:r>
          </a:p>
        </p:txBody>
      </p:sp>
      <p:sp>
        <p:nvSpPr>
          <p:cNvPr id="7" name="TextBox 6" hidden="1">
            <a:extLst>
              <a:ext uri="{FF2B5EF4-FFF2-40B4-BE49-F238E27FC236}">
                <a16:creationId xmlns:a16="http://schemas.microsoft.com/office/drawing/2014/main" id="{C4C8CBCA-67E0-6085-D732-21CC6FF95D3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41096" y="3618329"/>
            <a:ext cx="3179402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144 source rows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0E0E61-5D73-48B4-F225-7B5FC75F3459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41096" y="4064218"/>
            <a:ext cx="3179402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Six complete periods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87C400-4064-D5C4-2BC8-3FD917F513C1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328499" y="2538730"/>
            <a:ext cx="3535002" cy="22606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E025D2-39A6-0C03-49E9-E84C9DA7627B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328499" y="2538730"/>
            <a:ext cx="3535002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6C498C-0562-39CB-4B45-797ACF942C34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506299" y="2741930"/>
            <a:ext cx="3179402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000" b="1">
                <a:solidFill>
                  <a:srgbClr val="4F81BD"/>
                </a:solidFill>
                <a:latin typeface="Arial" panose="020B0604020202020204" pitchFamily="34" charset="0"/>
              </a:rPr>
              <a:t>Integrity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D9E611-7BE9-91E4-42AB-31CABCAACE9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4506299" y="3618329"/>
            <a:ext cx="3179402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0 duplicate IDs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431964-EBF7-1D82-375A-75A638E6A4B9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4506299" y="4064218"/>
            <a:ext cx="3179402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Every row counted once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979863-9BDB-F6B6-8D06-DBC008CE92BE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8193701" y="2538730"/>
            <a:ext cx="3535002" cy="22606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5895EE-52E8-63B4-53E0-C5421420F639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8193701" y="2538730"/>
            <a:ext cx="3535002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35D576-8537-0ABA-DAAF-347988707691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8371501" y="2741930"/>
            <a:ext cx="3179402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000" b="1">
                <a:solidFill>
                  <a:srgbClr val="4F81BD"/>
                </a:solidFill>
                <a:latin typeface="Arial" panose="020B0604020202020204" pitchFamily="34" charset="0"/>
              </a:rPr>
              <a:t>Method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7D1392-A5AD-9601-6702-C0A4C9A9EEA3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8371501" y="3618329"/>
            <a:ext cx="3179402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Rates use aggregate totals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FE3C68-A001-B040-8184-1B01C081DCEC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8371501" y="4064218"/>
            <a:ext cx="3179402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Missing inputs stay unknown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30234F-D210-45FC-E571-EB3DFA1C1487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D5D7F5-500E-9894-43A4-585D71D4B9BF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- 4 -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7FB8C6-3D6A-22C4-B87F-1A82394E69C8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1683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A347FF-E8AC-0427-2BEE-0649660864F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Why the June summary is traceable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A4611-DCAB-B860-A5D9-545A72E7A91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Each statement can be checked in the source workbook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A9322C-E68E-E4A3-84B5-02C5F8BDA1C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3296" y="2329868"/>
            <a:ext cx="3535003" cy="2678324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D1C2BA-A717-F5BB-7DD7-8DB5C94BBCBC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63296" y="2329868"/>
            <a:ext cx="3535003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7AA2DC-D366-E68D-9717-D8569A78C51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41096" y="2533068"/>
            <a:ext cx="3179402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000" b="1">
                <a:solidFill>
                  <a:srgbClr val="4F81BD"/>
                </a:solidFill>
                <a:latin typeface="Arial" panose="020B0604020202020204" pitchFamily="34" charset="0"/>
              </a:rPr>
              <a:t>Range coverage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88B4CE-FE91-76CC-251F-D9B3B4B0B5F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41096" y="3231568"/>
            <a:ext cx="3179402" cy="8521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600" b="1">
                <a:solidFill>
                  <a:srgbClr val="202A35"/>
                </a:solidFill>
                <a:latin typeface="Arial" panose="020B0604020202020204" pitchFamily="34" charset="0"/>
              </a:rPr>
              <a:t>The ledger includes all records from January through June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34DA2B-95FF-C305-6DA7-A321BA7721D7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41096" y="4210671"/>
            <a:ext cx="3179402" cy="53082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No period was inferred from display formatting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A6F77B-10EB-E7E7-B415-0C4B72D1E64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328499" y="2329868"/>
            <a:ext cx="3535002" cy="2678324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72BC95-1247-6AD7-F850-9360F7F7A9EA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328499" y="2329868"/>
            <a:ext cx="3535002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EDB67E-2D4F-4C69-34A5-DEFA6BE86D9E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506299" y="2533068"/>
            <a:ext cx="3179402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000" b="1">
                <a:solidFill>
                  <a:srgbClr val="4F81BD"/>
                </a:solidFill>
                <a:latin typeface="Arial" panose="020B0604020202020204" pitchFamily="34" charset="0"/>
              </a:rPr>
              <a:t>Identifier checks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158299-AAC2-5655-DAAB-D7C87E48A36B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4506299" y="3363002"/>
            <a:ext cx="3179402" cy="58923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Each source row has a distinct identifier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B24EFF-E493-78BB-F4A6-3F47BF6E89C9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4506299" y="4079237"/>
            <a:ext cx="3179402" cy="53082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No duplicated row contributes twice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BB21C5-8AD9-E739-4D5F-629E380ACE7A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8193701" y="2329868"/>
            <a:ext cx="3535002" cy="2678324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DCB70F-317B-B0CE-3617-5D68E1E77357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8193701" y="2329868"/>
            <a:ext cx="3535002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88C027-E72C-963A-5E05-5C1E4D155D1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8371501" y="2533068"/>
            <a:ext cx="3179402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000" b="1">
                <a:solidFill>
                  <a:srgbClr val="4F81BD"/>
                </a:solidFill>
                <a:latin typeface="Arial" panose="020B0604020202020204" pitchFamily="34" charset="0"/>
              </a:rPr>
              <a:t>Calculation method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81E515-9646-11F5-335D-69231DCEAB07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8371501" y="3363002"/>
            <a:ext cx="3179402" cy="58923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Gross margin uses total revenue and total cost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B44C2F-B28A-89A2-D062-70B1895E0015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8371501" y="4079237"/>
            <a:ext cx="3179402" cy="53082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Blank inputs are not substituted with zero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426897-C45D-36E0-32D0-EB38AFD7A6C0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0DDC36-7B41-A7BB-38C1-26C90764EE4D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- 5 -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EC3F8F-F4FF-0038-74EF-F1EF61F3881C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1236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836D72-D65D-BD97-33B6-D57F983B84E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Evidence and limits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72703D-085D-64B9-92C8-B6E3AD46A47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408017-2B53-721A-9023-C5A24BC1AF9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3296" y="171450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A6EBFD-DB86-37E8-065C-0711DD3150B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63296" y="171450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C58AF4-DC60-81E5-1584-2CADF75B576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41096" y="1841500"/>
            <a:ext cx="33594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Coverage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DF4957-61A6-6FED-D461-C83613A376DC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076700" y="1803400"/>
            <a:ext cx="1676400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2900" b="1">
                <a:solidFill>
                  <a:srgbClr val="4F81BD"/>
                </a:solidFill>
                <a:latin typeface="Arial" panose="020B0604020202020204" pitchFamily="34" charset="0"/>
              </a:rPr>
              <a:t>144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80E4A1-0F94-CFD5-D632-D485A9A37D20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41096" y="2507714"/>
            <a:ext cx="5112004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144 records across six months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DD5BD-0587-D43F-7531-00A2E3818D79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41096" y="2953603"/>
            <a:ext cx="5112004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Four operating groups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D9ABA5-A8B5-9B67-44A3-AA3D1D95A64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261100" y="171450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BC2271-1C5E-3F39-3C34-EBCD03553FBB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261100" y="171450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DAE1E9-40AF-DDC2-5576-6C324E578E69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641096" y="1841500"/>
            <a:ext cx="33594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Integrity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7D6DF0-25AE-B004-377C-7134DD83414B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9874504" y="1803400"/>
            <a:ext cx="1676400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2900" b="1">
                <a:solidFill>
                  <a:srgbClr val="4F81BD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BC92D3-DDBA-596D-CE32-BD5267CF9A14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6438900" y="2507714"/>
            <a:ext cx="5112004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0 duplicate row IDs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599B06-B560-3A15-32DD-FA72E4ACED27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6438900" y="2953603"/>
            <a:ext cx="5112004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0 blank revenue cells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94A92C-FCBF-8E88-DCF6-BBAF4B145D84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463296" y="378333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2EFA56-4AE4-6454-729B-382CF4847B4B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463296" y="378333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090827-501F-B154-3D45-C3C94BB6CDA6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641096" y="3910330"/>
            <a:ext cx="51120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Calculation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172220-A313-FF99-9522-A4A4D3C1F5F9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641096" y="4576544"/>
            <a:ext cx="5112004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Rates use aggregate totals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CB410D-9873-5115-356F-26C8DA1063AF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641096" y="5022433"/>
            <a:ext cx="5112004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Precision is retained before display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B2E395-01A6-22BF-0A7F-F918844824B7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6261100" y="378333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198ACB-2535-CF7A-71C2-08842C714103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261100" y="378333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2389C8-E69A-81B5-39A8-CC5CBBD4D5AC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6438900" y="3910330"/>
            <a:ext cx="51120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Limits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C65B07-D21A-6EF9-7DB8-D9535CC2C973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6438900" y="4576544"/>
            <a:ext cx="5112004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History ends in May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A7286F-96F9-AB70-219F-69D9883FF22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6438900" y="5022433"/>
            <a:ext cx="5112004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June is sourced from the ledger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0E2858-C366-0204-4EFC-2CAFA7C20E35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CF65A9-5055-ACAC-3CFC-32CB798EA5B9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- 6 -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F1A584-EEC5-F071-23DF-7789C732B456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32176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</Words>
  <Application>Microsoft Office PowerPoint</Application>
  <PresentationFormat>Widescreen</PresentationFormat>
  <Paragraphs>74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Arial Narrow</vt:lpstr>
      <vt:lpstr>Calibri</vt:lpstr>
      <vt:lpstr>Samsung Sharp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3</cp:revision>
  <dcterms:created xsi:type="dcterms:W3CDTF">2026-09-24T11:37:58Z</dcterms:created>
  <dcterms:modified xsi:type="dcterms:W3CDTF">2026-09-24T11:38:19Z</dcterms:modified>
</cp:coreProperties>
</file>