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3.xml" ContentType="application/vnd.openxmlformats-officedocument.presentationml.notesSlid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custDataLst>
    <p:tags r:id="rId9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1" d="100"/>
          <a:sy n="91" d="100"/>
        </p:scale>
        <p:origin x="108" y="3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tags" Target="tags/tag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000" b="1" i="0" u="none" strike="noStrike" kern="1200" spc="0" baseline="0">
                <a:solidFill>
                  <a:srgbClr val="404040"/>
                </a:solidFill>
                <a:latin typeface="Samsung Sharp Sans Bold"/>
                <a:ea typeface="+mn-ea"/>
                <a:cs typeface="+mn-cs"/>
              </a:defRPr>
            </a:pPr>
            <a:r>
              <a:rPr lang="fr-FR" sz="1000" b="1">
                <a:solidFill>
                  <a:srgbClr val="404040"/>
                </a:solidFill>
                <a:latin typeface="Samsung Sharp Sans Bold"/>
              </a:rPr>
              <a:t>Revenue EUR / Cost EUR (EUR)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1" i="0" u="none" strike="noStrike" kern="1200" spc="0" baseline="0">
              <a:solidFill>
                <a:srgbClr val="404040"/>
              </a:solidFill>
              <a:latin typeface="Samsung Sharp Sans Bold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EUR</c:v>
                </c:pt>
              </c:strCache>
            </c:strRef>
          </c:tx>
          <c:spPr>
            <a:solidFill>
              <a:srgbClr val="4F81BD"/>
            </a:solidFill>
            <a:ln w="25400">
              <a:solidFill>
                <a:srgbClr val="4F81BD"/>
              </a:solidFill>
            </a:ln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2026-01</c:v>
                </c:pt>
                <c:pt idx="1">
                  <c:v>2026-02</c:v>
                </c:pt>
                <c:pt idx="2">
                  <c:v>2026-03</c:v>
                </c:pt>
                <c:pt idx="3">
                  <c:v>2026-04</c:v>
                </c:pt>
                <c:pt idx="4">
                  <c:v>2026-05</c:v>
                </c:pt>
                <c:pt idx="5">
                  <c:v>2026-06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85465</c:v>
                </c:pt>
                <c:pt idx="1">
                  <c:v>86227</c:v>
                </c:pt>
                <c:pt idx="2">
                  <c:v>81867</c:v>
                </c:pt>
                <c:pt idx="3">
                  <c:v>80048</c:v>
                </c:pt>
                <c:pt idx="4">
                  <c:v>85519</c:v>
                </c:pt>
                <c:pt idx="5">
                  <c:v>82992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922-4148-8758-460F215ABDD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Cost EUR</c:v>
                </c:pt>
              </c:strCache>
            </c:strRef>
          </c:tx>
          <c:spPr>
            <a:solidFill>
              <a:srgbClr val="5B9BD5"/>
            </a:solidFill>
            <a:ln w="25400">
              <a:solidFill>
                <a:srgbClr val="5B9BD5"/>
              </a:solidFill>
            </a:ln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2026-01</c:v>
                </c:pt>
                <c:pt idx="1">
                  <c:v>2026-02</c:v>
                </c:pt>
                <c:pt idx="2">
                  <c:v>2026-03</c:v>
                </c:pt>
                <c:pt idx="3">
                  <c:v>2026-04</c:v>
                </c:pt>
                <c:pt idx="4">
                  <c:v>2026-05</c:v>
                </c:pt>
                <c:pt idx="5">
                  <c:v>2026-06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37923</c:v>
                </c:pt>
                <c:pt idx="1">
                  <c:v>35861</c:v>
                </c:pt>
                <c:pt idx="2">
                  <c:v>34892</c:v>
                </c:pt>
                <c:pt idx="3">
                  <c:v>34407</c:v>
                </c:pt>
                <c:pt idx="4">
                  <c:v>36702</c:v>
                </c:pt>
                <c:pt idx="5">
                  <c:v>36714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922-4148-8758-460F215ABDD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526734208"/>
        <c:axId val="1399437135"/>
      </c:barChart>
      <c:catAx>
        <c:axId val="52673420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99437135"/>
        <c:crosses val="autoZero"/>
        <c:auto val="1"/>
        <c:lblAlgn val="ctr"/>
        <c:lblOffset val="100"/>
        <c:noMultiLvlLbl val="0"/>
      </c:catAx>
      <c:valAx>
        <c:axId val="1399437135"/>
        <c:scaling>
          <c:orientation val="minMax"/>
          <c:min val="0"/>
        </c:scaling>
        <c:delete val="0"/>
        <c:axPos val="l"/>
        <c:majorGridlines>
          <c:spPr>
            <a:ln w="9525" cap="flat" cmpd="sng" algn="ctr">
              <a:solidFill>
                <a:srgbClr val="D9D9D9"/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26734208"/>
        <c:crosses val="autoZero"/>
        <c:crossBetween val="between"/>
      </c:valAx>
      <c:spPr>
        <a:noFill/>
        <a:ln>
          <a:noFill/>
        </a:ln>
        <a:effectLst/>
        <a:extLst>
          <a:ext uri="{91240B29-F687-4F45-9708-019B960494DF}">
            <a14:hiddenLine xmlns:a14="http://schemas.microsoft.com/office/drawing/2010/main">
              <a:noFill/>
            </a14:hiddenLine>
          </a:ext>
        </a:extLst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rgbClr val="404040"/>
              </a:solidFill>
              <a:latin typeface="Arial Narrow" panose="020B0606020202030204" pitchFamily="34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  <a:extLst>
      <a:ext uri="{91240B29-F687-4F45-9708-019B960494DF}">
        <a14:hiddenLine xmlns:a14="http://schemas.microsoft.com/office/drawing/2010/main">
          <a:noFill/>
        </a14:hiddenLine>
      </a:ext>
    </a:extLst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9605E7-9BF5-4F6C-A0FD-C75097AF5BE9}" type="datetimeFigureOut">
              <a:rPr lang="en-GB" smtClean="0"/>
              <a:t>24/09/2026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C2593FE-6B4E-40C8-8173-2201FBF2878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69333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Fictional source: WB01, Ledger and monthly operations records, January–June 2026. Source period complete. Values in this source are not claims about a real company.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Fictional source: WB01, Ledger and monthly operations records, January–June 2026. Source period complete. Values in this source are not claims about a real company.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Fictional source: WB01, Ledger and monthly operations records, January–June 2026. Source period complete. Values in this source are not claims about a real company.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Fictional source: WB01, Ledger and monthly operations records, January–June 2026. Source period complete. Values in this source are not claims about a real company.</a:t>
            </a:r>
            <a:r>
              <a:rPr lang="en-GB"/>
              <a:t>
WB01 Ledger and History
Fictional operational source
Evidence:
Source content retained in native editable cards.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Fictional source: WB01, Ledger and monthly operations records, January–June 2026. Source period complete. Values in this source are not claims about a real company.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Fictional source: WB01, Ledger and monthly operations records, January–June 2026. Source period complete. Values in this source are not claims about a real company.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D2A166-19F3-6EDB-E0ED-959B2A6819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E9E6539-1D8D-F3BD-C9A0-4C782C8AE6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CD9923-7A74-4BBD-FAB7-84B76B0047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D5D92-8DD7-4DAC-9614-7E925EAF8F11}" type="datetimeFigureOut">
              <a:rPr lang="en-GB" smtClean="0"/>
              <a:t>24/09/2026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0FCC13-96E9-33EE-99F9-E29259DF70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46F7F7-6A7E-51BD-08B5-7879FAB9AF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A6FE9F-E254-49E5-932F-336992A98C8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298790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3C53C8-C6D1-96C7-3F30-2086366896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61EAF2-3C1A-D7EF-6DB5-4751C0D774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A06236-A5C1-6A92-5D42-4337C42B84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D5D92-8DD7-4DAC-9614-7E925EAF8F11}" type="datetimeFigureOut">
              <a:rPr lang="en-GB" smtClean="0"/>
              <a:t>24/09/2026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020BEF-F5BD-3DC7-5B10-CC9B536236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C052CB-3CD5-0DBB-464D-362FA0E1B3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A6FE9F-E254-49E5-932F-336992A98C8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07428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CD7E1C-CF23-D9D3-24AA-E3C5F1F21E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7568B2-0964-A0E7-0525-0BD3FDB5E5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12EAFA-A522-1821-57E2-446DF738CB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D5D92-8DD7-4DAC-9614-7E925EAF8F11}" type="datetimeFigureOut">
              <a:rPr lang="en-GB" smtClean="0"/>
              <a:t>24/09/2026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3C127A-117F-EBEE-8E70-9ADD8E00C7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7D542B-331E-B5F2-F28E-F642FEAD0A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A6FE9F-E254-49E5-932F-336992A98C8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961861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CA2478-B307-EE13-6D86-DED21B3500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0F5550-E57D-AC5C-D385-F3A1430FD6C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5FD5FD-5DE0-5E2A-1220-62728CA23B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8B3891-8026-AEE7-C4CA-74F8817778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D5D92-8DD7-4DAC-9614-7E925EAF8F11}" type="datetimeFigureOut">
              <a:rPr lang="en-GB" smtClean="0"/>
              <a:t>24/09/2026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DFF6BE-6E4B-4DEF-8518-A7E8D45EC7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B13425-3C62-6C75-A184-81C9382E3D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A6FE9F-E254-49E5-932F-336992A98C8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949754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85F46B-BF51-C07D-2E92-FC792806C1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D3656E-82F8-34CD-F21A-86BF8CAE30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102D329-0B2C-8278-9E8D-56576995B0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3231925-FDAA-AA11-8097-B1AB8D1C7CC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E6D99DE-3E96-B230-E785-0ED741C7958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C9EF743-AAE8-E3B9-35D8-52FE93637C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D5D92-8DD7-4DAC-9614-7E925EAF8F11}" type="datetimeFigureOut">
              <a:rPr lang="en-GB" smtClean="0"/>
              <a:t>24/09/2026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55D8640-22CD-36BF-4A50-C3A92B200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C3F8331-97AF-5268-BFA8-799BB48E2A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A6FE9F-E254-49E5-932F-336992A98C8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470247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32F7C7-CB60-BBB9-0496-050C668E15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C79A80-196B-F946-B8AA-60F3F3A210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D5D92-8DD7-4DAC-9614-7E925EAF8F11}" type="datetimeFigureOut">
              <a:rPr lang="en-GB" smtClean="0"/>
              <a:t>24/09/2026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1EA680-616E-2F5E-A24E-A1F8A59E22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EFCCC1B-B923-82CE-1FA0-01774628F7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A6FE9F-E254-49E5-932F-336992A98C8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710030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3A8EDC-72EF-0028-C9C7-2C77753574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D5D92-8DD7-4DAC-9614-7E925EAF8F11}" type="datetimeFigureOut">
              <a:rPr lang="en-GB" smtClean="0"/>
              <a:t>24/09/2026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1ECE7D9-52C8-DF67-0F59-F1A4E6746C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347685-03C7-88CB-2E5B-9012A42897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A6FE9F-E254-49E5-932F-336992A98C8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227978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79B620-B67C-C03E-602F-5C3ACD79EB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3B9B9C-877A-6AFC-DEF9-BBBAFAFA00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E659E0-D844-DB74-B057-16D8DA933A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85F156-0D3A-19B4-505A-F0E889CF5D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D5D92-8DD7-4DAC-9614-7E925EAF8F11}" type="datetimeFigureOut">
              <a:rPr lang="en-GB" smtClean="0"/>
              <a:t>24/09/2026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43757F-BD02-A7F6-FF49-D24917D675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AFB640-ECBA-2EF7-B4D0-F323231ADB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A6FE9F-E254-49E5-932F-336992A98C8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665847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384389-3D29-B524-3B13-ED4BBCE88B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0454F72-37F9-5DAD-EB1D-45CB7B68615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9ED7890-6283-2339-AB8D-BFE39C19F3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EA51A1-AF6D-D353-181A-0D411E2263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D5D92-8DD7-4DAC-9614-7E925EAF8F11}" type="datetimeFigureOut">
              <a:rPr lang="en-GB" smtClean="0"/>
              <a:t>24/09/2026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C77CB8-9A53-3D39-C083-75D4844734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A0113C-2734-2FFD-472D-DDE64A874D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A6FE9F-E254-49E5-932F-336992A98C8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719144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0DE2E7-5901-CCF8-C126-1AF50C1A85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0E13DED-6005-85D5-18D0-CEDB8CBB12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9260EE-9A63-CC00-E01E-DF1138A3E1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D5D92-8DD7-4DAC-9614-7E925EAF8F11}" type="datetimeFigureOut">
              <a:rPr lang="en-GB" smtClean="0"/>
              <a:t>24/09/2026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8212DB-274C-C9F2-AA77-F0CE5E47A3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293902-4380-AF83-E998-8081C8AB6F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A6FE9F-E254-49E5-932F-336992A98C8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22346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AFA64FD-69BC-6C40-64C3-814962F0F43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A4DC815-1FEE-37B8-5F35-FD46967073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0CA91F-8F0B-0D57-3311-B651CBA5E3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D5D92-8DD7-4DAC-9614-7E925EAF8F11}" type="datetimeFigureOut">
              <a:rPr lang="en-GB" smtClean="0"/>
              <a:t>24/09/2026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F8E5BE-413B-202D-64C8-68EF00351F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8143B6-BA5A-D9DD-CB32-CC97FBBF1D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A6FE9F-E254-49E5-932F-336992A98C8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203562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963645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EAEB583-4BFE-729F-05D0-F50851ED33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D33423-FDBB-0511-13A7-11CC28C129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C92D5D-4EFF-8C7D-CFB2-97E58E2D262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DDD5D92-8DD7-4DAC-9614-7E925EAF8F11}" type="datetimeFigureOut">
              <a:rPr lang="en-GB" smtClean="0"/>
              <a:t>24/09/2026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AFFE88-03D9-3502-4097-E15460F50CA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BC2EFC-8E2F-5B9E-8944-91C4B1C10C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CA6FE9F-E254-49E5-932F-336992A98C8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203983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tags" Target="../tags/tag9.xml"/><Relationship Id="rId13" Type="http://schemas.openxmlformats.org/officeDocument/2006/relationships/tags" Target="../tags/tag14.xml"/><Relationship Id="rId18" Type="http://schemas.openxmlformats.org/officeDocument/2006/relationships/tags" Target="../tags/tag19.xml"/><Relationship Id="rId26" Type="http://schemas.openxmlformats.org/officeDocument/2006/relationships/notesSlide" Target="../notesSlides/notesSlide4.xml"/><Relationship Id="rId3" Type="http://schemas.openxmlformats.org/officeDocument/2006/relationships/tags" Target="../tags/tag4.xml"/><Relationship Id="rId21" Type="http://schemas.openxmlformats.org/officeDocument/2006/relationships/tags" Target="../tags/tag22.xml"/><Relationship Id="rId7" Type="http://schemas.openxmlformats.org/officeDocument/2006/relationships/tags" Target="../tags/tag8.xml"/><Relationship Id="rId12" Type="http://schemas.openxmlformats.org/officeDocument/2006/relationships/tags" Target="../tags/tag13.xml"/><Relationship Id="rId17" Type="http://schemas.openxmlformats.org/officeDocument/2006/relationships/tags" Target="../tags/tag18.xml"/><Relationship Id="rId25" Type="http://schemas.openxmlformats.org/officeDocument/2006/relationships/slideLayout" Target="../slideLayouts/slideLayout12.xml"/><Relationship Id="rId2" Type="http://schemas.openxmlformats.org/officeDocument/2006/relationships/tags" Target="../tags/tag3.xml"/><Relationship Id="rId16" Type="http://schemas.openxmlformats.org/officeDocument/2006/relationships/tags" Target="../tags/tag17.xml"/><Relationship Id="rId20" Type="http://schemas.openxmlformats.org/officeDocument/2006/relationships/tags" Target="../tags/tag21.xml"/><Relationship Id="rId1" Type="http://schemas.openxmlformats.org/officeDocument/2006/relationships/tags" Target="../tags/tag2.xml"/><Relationship Id="rId6" Type="http://schemas.openxmlformats.org/officeDocument/2006/relationships/tags" Target="../tags/tag7.xml"/><Relationship Id="rId11" Type="http://schemas.openxmlformats.org/officeDocument/2006/relationships/tags" Target="../tags/tag12.xml"/><Relationship Id="rId24" Type="http://schemas.openxmlformats.org/officeDocument/2006/relationships/tags" Target="../tags/tag25.xml"/><Relationship Id="rId5" Type="http://schemas.openxmlformats.org/officeDocument/2006/relationships/tags" Target="../tags/tag6.xml"/><Relationship Id="rId15" Type="http://schemas.openxmlformats.org/officeDocument/2006/relationships/tags" Target="../tags/tag16.xml"/><Relationship Id="rId23" Type="http://schemas.openxmlformats.org/officeDocument/2006/relationships/tags" Target="../tags/tag24.xml"/><Relationship Id="rId10" Type="http://schemas.openxmlformats.org/officeDocument/2006/relationships/tags" Target="../tags/tag11.xml"/><Relationship Id="rId19" Type="http://schemas.openxmlformats.org/officeDocument/2006/relationships/tags" Target="../tags/tag20.xml"/><Relationship Id="rId4" Type="http://schemas.openxmlformats.org/officeDocument/2006/relationships/tags" Target="../tags/tag5.xml"/><Relationship Id="rId9" Type="http://schemas.openxmlformats.org/officeDocument/2006/relationships/tags" Target="../tags/tag10.xml"/><Relationship Id="rId14" Type="http://schemas.openxmlformats.org/officeDocument/2006/relationships/tags" Target="../tags/tag15.xml"/><Relationship Id="rId22" Type="http://schemas.openxmlformats.org/officeDocument/2006/relationships/tags" Target="../tags/tag2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E1B4575-510A-42C0-995A-F3A2B9ADF90D}"/>
              </a:ext>
            </a:extLst>
          </p:cNvPr>
          <p:cNvSpPr>
            <a:spLocks noGrp="1"/>
          </p:cNvSpPr>
          <p:nvPr/>
        </p:nvSpPr>
        <p:spPr>
          <a:xfrm>
            <a:off x="742950" y="361950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1">
                <a:solidFill>
                  <a:srgbClr val="202A35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202A35"/>
                </a:solidFill>
                <a:latin typeface="Arial"/>
                <a:ea typeface="Arial"/>
                <a:cs typeface="Arial"/>
              </a:rPr>
              <a:t>Atlas Components: sales review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1AFDAFC-044F-477E-98F0-1757A8BDFB44}"/>
              </a:ext>
            </a:extLst>
          </p:cNvPr>
          <p:cNvSpPr>
            <a:spLocks noGrp="1"/>
          </p:cNvSpPr>
          <p:nvPr/>
        </p:nvSpPr>
        <p:spPr>
          <a:xfrm>
            <a:off x="466725" y="1104900"/>
            <a:ext cx="11249025" cy="2952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4F81BD"/>
                </a:solidFill>
                <a:latin typeface="Arial"/>
                <a:ea typeface="Arial"/>
                <a:cs typeface="Arial"/>
              </a:defRPr>
            </a:pPr>
            <a:r>
              <a:rPr sz="1400" b="0">
                <a:solidFill>
                  <a:srgbClr val="4F81BD"/>
                </a:solidFill>
                <a:latin typeface="Arial"/>
                <a:ea typeface="Arial"/>
                <a:cs typeface="Arial"/>
              </a:rPr>
              <a:t>Atlas Components | sales | January–June 2026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C258CC7-3C2F-430B-A95F-A485477EDD85}"/>
              </a:ext>
            </a:extLst>
          </p:cNvPr>
          <p:cNvSpPr>
            <a:spLocks noGrp="1"/>
          </p:cNvSpPr>
          <p:nvPr/>
        </p:nvSpPr>
        <p:spPr>
          <a:xfrm>
            <a:off x="466725" y="6410325"/>
            <a:ext cx="1061085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975" b="0">
                <a:solidFill>
                  <a:srgbClr val="596674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96674"/>
                </a:solidFill>
                <a:latin typeface="Arial"/>
                <a:ea typeface="Arial"/>
                <a:cs typeface="Arial"/>
              </a:rPr>
              <a:t>WB01 • Fictional operational source • PPT01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ADE946D-8A69-43DC-A2AF-7A9866D83957}"/>
              </a:ext>
            </a:extLst>
          </p:cNvPr>
          <p:cNvSpPr>
            <a:spLocks noGrp="1"/>
          </p:cNvSpPr>
          <p:nvPr/>
        </p:nvSpPr>
        <p:spPr>
          <a:xfrm>
            <a:off x="11458575" y="6438900"/>
            <a:ext cx="542925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975" b="0">
                <a:solidFill>
                  <a:srgbClr val="596674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96674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6B6192F-D87A-45AA-A263-4EDB75BBF2B5}"/>
              </a:ext>
            </a:extLst>
          </p:cNvPr>
          <p:cNvSpPr>
            <a:spLocks noGrp="1"/>
          </p:cNvSpPr>
          <p:nvPr/>
        </p:nvSpPr>
        <p:spPr>
          <a:xfrm>
            <a:off x="809625" y="2095500"/>
            <a:ext cx="5715000" cy="1371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700" b="1">
                <a:solidFill>
                  <a:srgbClr val="4F81BD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4F81BD"/>
                </a:solidFill>
                <a:latin typeface="Arial"/>
                <a:ea typeface="Arial"/>
                <a:cs typeface="Arial"/>
              </a:rPr>
              <a:t>Revenue EUR</a:t>
            </a:r>
          </a:p>
          <a:p>
            <a:pPr>
              <a:defRPr sz="2700" b="1">
                <a:solidFill>
                  <a:srgbClr val="4F81BD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4F81BD"/>
                </a:solidFill>
                <a:latin typeface="Arial"/>
                <a:ea typeface="Arial"/>
                <a:cs typeface="Arial"/>
              </a:rPr>
              <a:t>82,992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B3306CD-2B10-48BE-AEC9-E11FE31D02FB}"/>
              </a:ext>
            </a:extLst>
          </p:cNvPr>
          <p:cNvSpPr>
            <a:spLocks noGrp="1"/>
          </p:cNvSpPr>
          <p:nvPr/>
        </p:nvSpPr>
        <p:spPr>
          <a:xfrm>
            <a:off x="7000875" y="2095500"/>
            <a:ext cx="4572000" cy="1371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0">
                <a:solidFill>
                  <a:srgbClr val="202A35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202A35"/>
                </a:solidFill>
                <a:latin typeface="Arial"/>
                <a:ea typeface="Arial"/>
                <a:cs typeface="Arial"/>
              </a:rPr>
              <a:t>Cost EUR</a:t>
            </a:r>
          </a:p>
          <a:p>
            <a:pPr>
              <a:defRPr sz="2250" b="0">
                <a:solidFill>
                  <a:srgbClr val="202A35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202A35"/>
                </a:solidFill>
                <a:latin typeface="Arial"/>
                <a:ea typeface="Arial"/>
                <a:cs typeface="Arial"/>
              </a:rPr>
              <a:t>36,714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B95E1D3-0DFF-4880-ADC1-07DD5FE841C6}"/>
              </a:ext>
            </a:extLst>
          </p:cNvPr>
          <p:cNvSpPr>
            <a:spLocks noGrp="1"/>
          </p:cNvSpPr>
          <p:nvPr/>
        </p:nvSpPr>
        <p:spPr>
          <a:xfrm>
            <a:off x="809625" y="4191000"/>
            <a:ext cx="10620375" cy="1047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202A3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2A35"/>
                </a:solidFill>
                <a:latin typeface="Arial"/>
                <a:ea typeface="Arial"/>
                <a:cs typeface="Arial"/>
              </a:rPr>
              <a:t>Six months of operating records across four groups.</a:t>
            </a:r>
          </a:p>
          <a:p>
            <a:pPr>
              <a:defRPr sz="1875" b="0">
                <a:solidFill>
                  <a:srgbClr val="202A3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2A35"/>
                </a:solidFill>
                <a:latin typeface="Arial"/>
                <a:ea typeface="Arial"/>
                <a:cs typeface="Arial"/>
              </a:rPr>
              <a:t>Gross margin: 55.76%</a:t>
            </a:r>
          </a:p>
        </p:txBody>
      </p:sp>
    </p:spTree>
    <p:extLst>
      <p:ext uri="{BB962C8B-B14F-4D97-AF65-F5344CB8AC3E}">
        <p14:creationId xmlns:p14="http://schemas.microsoft.com/office/powerpoint/2010/main" val="11578945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216BA17-3673-4845-A5C7-2AE823E865D4}"/>
              </a:ext>
            </a:extLst>
          </p:cNvPr>
          <p:cNvSpPr>
            <a:spLocks noGrp="1"/>
          </p:cNvSpPr>
          <p:nvPr/>
        </p:nvSpPr>
        <p:spPr>
          <a:xfrm>
            <a:off x="742950" y="361950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1">
                <a:solidFill>
                  <a:srgbClr val="202A35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202A35"/>
                </a:solidFill>
                <a:latin typeface="Arial"/>
                <a:ea typeface="Arial"/>
                <a:cs typeface="Arial"/>
              </a:rPr>
              <a:t>Revenue EUR: six-month trend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2FA7FB4-D1DC-4E77-973B-32B7F82F0ADD}"/>
              </a:ext>
            </a:extLst>
          </p:cNvPr>
          <p:cNvSpPr>
            <a:spLocks noGrp="1"/>
          </p:cNvSpPr>
          <p:nvPr/>
        </p:nvSpPr>
        <p:spPr>
          <a:xfrm>
            <a:off x="466725" y="1104900"/>
            <a:ext cx="11249025" cy="2952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4F81BD"/>
                </a:solidFill>
                <a:latin typeface="Arial"/>
                <a:ea typeface="Arial"/>
                <a:cs typeface="Arial"/>
              </a:defRPr>
            </a:pPr>
            <a:r>
              <a:rPr sz="1400" b="0">
                <a:solidFill>
                  <a:srgbClr val="4F81BD"/>
                </a:solidFill>
                <a:latin typeface="Arial"/>
                <a:ea typeface="Arial"/>
                <a:cs typeface="Arial"/>
              </a:rPr>
              <a:t>Atlas Components | sales | January–June 2026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144244C-8AB9-4E70-9C5C-9CDA9363F4FD}"/>
              </a:ext>
            </a:extLst>
          </p:cNvPr>
          <p:cNvSpPr>
            <a:spLocks noGrp="1"/>
          </p:cNvSpPr>
          <p:nvPr/>
        </p:nvSpPr>
        <p:spPr>
          <a:xfrm>
            <a:off x="466725" y="6410325"/>
            <a:ext cx="1061085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975" b="0">
                <a:solidFill>
                  <a:srgbClr val="596674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96674"/>
                </a:solidFill>
                <a:latin typeface="Arial"/>
                <a:ea typeface="Arial"/>
                <a:cs typeface="Arial"/>
              </a:rPr>
              <a:t>WB01 • Fictional operational source • PPT01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FC276F5-6FCB-4157-8566-292503FA45EE}"/>
              </a:ext>
            </a:extLst>
          </p:cNvPr>
          <p:cNvSpPr>
            <a:spLocks noGrp="1"/>
          </p:cNvSpPr>
          <p:nvPr/>
        </p:nvSpPr>
        <p:spPr>
          <a:xfrm>
            <a:off x="11458575" y="6438900"/>
            <a:ext cx="542925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975" b="0">
                <a:solidFill>
                  <a:srgbClr val="596674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96674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F8A11370-504A-2D23-E6FF-3FEF8946262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75343987"/>
              </p:ext>
            </p:extLst>
          </p:nvPr>
        </p:nvGraphicFramePr>
        <p:xfrm>
          <a:off x="838200" y="2009775"/>
          <a:ext cx="10477500" cy="332174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3715472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49BE370-C899-46AF-95E7-E2859297D06B}"/>
              </a:ext>
            </a:extLst>
          </p:cNvPr>
          <p:cNvSpPr>
            <a:spLocks noGrp="1"/>
          </p:cNvSpPr>
          <p:nvPr/>
        </p:nvSpPr>
        <p:spPr>
          <a:xfrm>
            <a:off x="742950" y="361950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1">
                <a:solidFill>
                  <a:srgbClr val="202A35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202A35"/>
                </a:solidFill>
                <a:latin typeface="Arial"/>
                <a:ea typeface="Arial"/>
                <a:cs typeface="Arial"/>
              </a:rPr>
              <a:t>June results by operating group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27460F9-AD57-4909-9C9B-41714EBCB21B}"/>
              </a:ext>
            </a:extLst>
          </p:cNvPr>
          <p:cNvSpPr>
            <a:spLocks noGrp="1"/>
          </p:cNvSpPr>
          <p:nvPr/>
        </p:nvSpPr>
        <p:spPr>
          <a:xfrm>
            <a:off x="466725" y="1104900"/>
            <a:ext cx="11249025" cy="2952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4F81BD"/>
                </a:solidFill>
                <a:latin typeface="Arial"/>
                <a:ea typeface="Arial"/>
                <a:cs typeface="Arial"/>
              </a:defRPr>
            </a:pPr>
            <a:r>
              <a:rPr sz="1400" b="0">
                <a:solidFill>
                  <a:srgbClr val="4F81BD"/>
                </a:solidFill>
                <a:latin typeface="Arial"/>
                <a:ea typeface="Arial"/>
                <a:cs typeface="Arial"/>
              </a:rPr>
              <a:t>Atlas Components | sales | January–June 2026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630CE5D-42F0-427D-AB1C-9AC2E7F66F29}"/>
              </a:ext>
            </a:extLst>
          </p:cNvPr>
          <p:cNvSpPr>
            <a:spLocks noGrp="1"/>
          </p:cNvSpPr>
          <p:nvPr/>
        </p:nvSpPr>
        <p:spPr>
          <a:xfrm>
            <a:off x="466725" y="6410325"/>
            <a:ext cx="1061085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975" b="0">
                <a:solidFill>
                  <a:srgbClr val="596674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96674"/>
                </a:solidFill>
                <a:latin typeface="Arial"/>
                <a:ea typeface="Arial"/>
                <a:cs typeface="Arial"/>
              </a:rPr>
              <a:t>WB01 • Fictional operational source • PPT01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16E65E1-90E9-4CC9-A895-07455B4EA5EB}"/>
              </a:ext>
            </a:extLst>
          </p:cNvPr>
          <p:cNvSpPr>
            <a:spLocks noGrp="1"/>
          </p:cNvSpPr>
          <p:nvPr/>
        </p:nvSpPr>
        <p:spPr>
          <a:xfrm>
            <a:off x="11458575" y="6438900"/>
            <a:ext cx="542925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975" b="0">
                <a:solidFill>
                  <a:srgbClr val="596674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96674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graphicFrame>
        <p:nvGraphicFramePr>
          <p:cNvPr id="10" name="Table 9"/>
          <p:cNvGraphicFramePr/>
          <p:nvPr>
            <p:extLst>
              <p:ext uri="{D42A27DB-BD31-4B8C-83A1-F6EECF244321}">
                <p14:modId xmlns:p14="http://schemas.microsoft.com/office/powerpoint/2010/main" val="2577086846"/>
              </p:ext>
            </p:extLst>
          </p:nvPr>
        </p:nvGraphicFramePr>
        <p:xfrm>
          <a:off x="800100" y="1943100"/>
          <a:ext cx="10591800" cy="3429000"/>
        </p:xfrm>
        <a:graphic>
          <a:graphicData uri="http://schemas.openxmlformats.org/drawingml/2006/table">
            <a:tbl>
              <a:tblPr/>
              <a:tblGrid>
                <a:gridCol w="29657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130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130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Group</a:t>
                      </a:r>
                    </a:p>
                  </a:txBody>
                  <a:tcPr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Revenue EUR</a:t>
                      </a:r>
                    </a:p>
                  </a:txBody>
                  <a:tcPr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Cost EUR</a:t>
                      </a:r>
                    </a:p>
                  </a:txBody>
                  <a:tcPr>
                    <a:solidFill>
                      <a:srgbClr val="4F81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02A35"/>
                          </a:solidFill>
                          <a:latin typeface="Arial"/>
                          <a:ea typeface="Arial"/>
                          <a:cs typeface="Arial"/>
                        </a:rPr>
                        <a:t>North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02A35"/>
                          </a:solidFill>
                          <a:latin typeface="Arial"/>
                          <a:ea typeface="Arial"/>
                          <a:cs typeface="Arial"/>
                        </a:rPr>
                        <a:t>19,219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02A35"/>
                          </a:solidFill>
                          <a:latin typeface="Arial"/>
                          <a:ea typeface="Arial"/>
                          <a:cs typeface="Arial"/>
                        </a:rPr>
                        <a:t>8,082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02A35"/>
                          </a:solidFill>
                          <a:latin typeface="Arial"/>
                          <a:ea typeface="Arial"/>
                          <a:cs typeface="Arial"/>
                        </a:rPr>
                        <a:t>South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02A35"/>
                          </a:solidFill>
                          <a:latin typeface="Arial"/>
                          <a:ea typeface="Arial"/>
                          <a:cs typeface="Arial"/>
                        </a:rPr>
                        <a:t>22,675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02A35"/>
                          </a:solidFill>
                          <a:latin typeface="Arial"/>
                          <a:ea typeface="Arial"/>
                          <a:cs typeface="Arial"/>
                        </a:rPr>
                        <a:t>10,787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02A35"/>
                          </a:solidFill>
                          <a:latin typeface="Arial"/>
                          <a:ea typeface="Arial"/>
                          <a:cs typeface="Arial"/>
                        </a:rPr>
                        <a:t>East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02A35"/>
                          </a:solidFill>
                          <a:latin typeface="Arial"/>
                          <a:ea typeface="Arial"/>
                          <a:cs typeface="Arial"/>
                        </a:rPr>
                        <a:t>19,054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02A35"/>
                          </a:solidFill>
                          <a:latin typeface="Arial"/>
                          <a:ea typeface="Arial"/>
                          <a:cs typeface="Arial"/>
                        </a:rPr>
                        <a:t>9,708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02A35"/>
                          </a:solidFill>
                          <a:latin typeface="Arial"/>
                          <a:ea typeface="Arial"/>
                          <a:cs typeface="Arial"/>
                        </a:rPr>
                        <a:t>West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02A35"/>
                          </a:solidFill>
                          <a:latin typeface="Arial"/>
                          <a:ea typeface="Arial"/>
                          <a:cs typeface="Arial"/>
                        </a:rPr>
                        <a:t>22,044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02A35"/>
                          </a:solidFill>
                          <a:latin typeface="Arial"/>
                          <a:ea typeface="Arial"/>
                          <a:cs typeface="Arial"/>
                        </a:rPr>
                        <a:t>8,137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745539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77580268-229A-D380-9FB4-076A20A637F6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743712" y="356616"/>
            <a:ext cx="10972800" cy="658368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3000" b="1">
                <a:solidFill>
                  <a:srgbClr val="000000"/>
                </a:solidFill>
                <a:latin typeface="Arial" panose="020B0604020202020204" pitchFamily="34" charset="0"/>
              </a:rPr>
              <a:t>Operating review and evidence boundaries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9CDE7EF-DEF7-5F55-812F-9EB676B8F265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463296" y="1104138"/>
            <a:ext cx="11253216" cy="30861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1600">
                <a:solidFill>
                  <a:srgbClr val="000000"/>
                </a:solidFill>
                <a:latin typeface="Arial" panose="020B0604020202020204" pitchFamily="34" charset="0"/>
              </a:rPr>
              <a:t>Source-backed measures and interpretation limits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98C14B9-6D5A-19FD-8F3A-50A82A5F2E48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463296" y="1714500"/>
            <a:ext cx="5467604" cy="1840230"/>
          </a:xfrm>
          <a:prstGeom prst="rect">
            <a:avLst/>
          </a:prstGeom>
          <a:solidFill>
            <a:srgbClr val="F2F2F2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73153DB-F4BC-4E41-674E-A3F2FCEB22B9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463296" y="1714500"/>
            <a:ext cx="5467604" cy="50800"/>
          </a:xfrm>
          <a:prstGeom prst="rect">
            <a:avLst/>
          </a:prstGeom>
          <a:solidFill>
            <a:srgbClr val="4F81BD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F00FD7A-AC49-2F72-FAAF-37BB672394B3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641096" y="1841500"/>
            <a:ext cx="3359404" cy="36830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b="1">
                <a:solidFill>
                  <a:srgbClr val="4F81BD"/>
                </a:solidFill>
                <a:latin typeface="Arial" panose="020B0604020202020204" pitchFamily="34" charset="0"/>
              </a:rPr>
              <a:t>June measure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35B8743-DA0C-EE7D-3AF7-E8500F0EEC4B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4076700" y="1803400"/>
            <a:ext cx="1676400" cy="48260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pPr algn="r"/>
            <a:r>
              <a:rPr lang="en-GB" sz="2900" b="1">
                <a:solidFill>
                  <a:srgbClr val="4F81BD"/>
                </a:solidFill>
                <a:latin typeface="Arial" panose="020B0604020202020204" pitchFamily="34" charset="0"/>
              </a:rPr>
              <a:t>82,992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31897A9-1ABA-6E4C-333A-39E9FCC2DF00}"/>
              </a:ext>
            </a:extLst>
          </p:cNvPr>
          <p:cNvSpPr txBox="1"/>
          <p:nvPr>
            <p:custDataLst>
              <p:tags r:id="rId8"/>
            </p:custDataLst>
          </p:nvPr>
        </p:nvSpPr>
        <p:spPr>
          <a:xfrm>
            <a:off x="641096" y="2716470"/>
            <a:ext cx="5112004" cy="318889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b="1">
                <a:solidFill>
                  <a:srgbClr val="202A35"/>
                </a:solidFill>
                <a:latin typeface="Arial" panose="020B0604020202020204" pitchFamily="34" charset="0"/>
              </a:rPr>
              <a:t>June revenue eur: 82,992.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697AD50-AED7-E440-84BD-A2A948E470AD}"/>
              </a:ext>
            </a:extLst>
          </p:cNvPr>
          <p:cNvSpPr/>
          <p:nvPr>
            <p:custDataLst>
              <p:tags r:id="rId9"/>
            </p:custDataLst>
          </p:nvPr>
        </p:nvSpPr>
        <p:spPr>
          <a:xfrm>
            <a:off x="6261100" y="1714500"/>
            <a:ext cx="5467604" cy="1840230"/>
          </a:xfrm>
          <a:prstGeom prst="rect">
            <a:avLst/>
          </a:prstGeom>
          <a:solidFill>
            <a:srgbClr val="F2F2F2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BEF8D9A-7E81-CD65-1984-7EAB81DA22FF}"/>
              </a:ext>
            </a:extLst>
          </p:cNvPr>
          <p:cNvSpPr/>
          <p:nvPr>
            <p:custDataLst>
              <p:tags r:id="rId10"/>
            </p:custDataLst>
          </p:nvPr>
        </p:nvSpPr>
        <p:spPr>
          <a:xfrm>
            <a:off x="6261100" y="1714500"/>
            <a:ext cx="5467604" cy="50800"/>
          </a:xfrm>
          <a:prstGeom prst="rect">
            <a:avLst/>
          </a:prstGeom>
          <a:solidFill>
            <a:srgbClr val="4F81BD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5FA1DFE-B6F5-17D6-D96B-15F990520F80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6438900" y="1841500"/>
            <a:ext cx="3359404" cy="36830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b="1">
                <a:solidFill>
                  <a:srgbClr val="4F81BD"/>
                </a:solidFill>
                <a:latin typeface="Arial" panose="020B0604020202020204" pitchFamily="34" charset="0"/>
              </a:rPr>
              <a:t>Cost and margin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72B6110-8725-D180-C25B-8F50DC6867FD}"/>
              </a:ext>
            </a:extLst>
          </p:cNvPr>
          <p:cNvSpPr txBox="1"/>
          <p:nvPr>
            <p:custDataLst>
              <p:tags r:id="rId12"/>
            </p:custDataLst>
          </p:nvPr>
        </p:nvSpPr>
        <p:spPr>
          <a:xfrm>
            <a:off x="9874504" y="1803400"/>
            <a:ext cx="1676400" cy="48260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pPr algn="r"/>
            <a:r>
              <a:rPr lang="en-GB" sz="2900" b="1">
                <a:solidFill>
                  <a:srgbClr val="4F81BD"/>
                </a:solidFill>
                <a:latin typeface="Arial" panose="020B0604020202020204" pitchFamily="34" charset="0"/>
              </a:rPr>
              <a:t>36,714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E4AB784-A499-1F9A-836B-623E7F21F947}"/>
              </a:ext>
            </a:extLst>
          </p:cNvPr>
          <p:cNvSpPr txBox="1"/>
          <p:nvPr>
            <p:custDataLst>
              <p:tags r:id="rId13"/>
            </p:custDataLst>
          </p:nvPr>
        </p:nvSpPr>
        <p:spPr>
          <a:xfrm>
            <a:off x="6438900" y="2716470"/>
            <a:ext cx="5112004" cy="318889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b="1">
                <a:solidFill>
                  <a:srgbClr val="202A35"/>
                </a:solidFill>
                <a:latin typeface="Arial" panose="020B0604020202020204" pitchFamily="34" charset="0"/>
              </a:rPr>
              <a:t>Cost EUR: 36,714. Gross margin: 55.76%.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C642A67-9270-019C-32F8-AC8CD82A4B52}"/>
              </a:ext>
            </a:extLst>
          </p:cNvPr>
          <p:cNvSpPr/>
          <p:nvPr>
            <p:custDataLst>
              <p:tags r:id="rId14"/>
            </p:custDataLst>
          </p:nvPr>
        </p:nvSpPr>
        <p:spPr>
          <a:xfrm>
            <a:off x="463296" y="3783330"/>
            <a:ext cx="5467604" cy="1840230"/>
          </a:xfrm>
          <a:prstGeom prst="rect">
            <a:avLst/>
          </a:prstGeom>
          <a:solidFill>
            <a:srgbClr val="F2F2F2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0444467-E280-7DC0-E150-3C51F0A73C8F}"/>
              </a:ext>
            </a:extLst>
          </p:cNvPr>
          <p:cNvSpPr/>
          <p:nvPr>
            <p:custDataLst>
              <p:tags r:id="rId15"/>
            </p:custDataLst>
          </p:nvPr>
        </p:nvSpPr>
        <p:spPr>
          <a:xfrm>
            <a:off x="463296" y="3783330"/>
            <a:ext cx="5467604" cy="50800"/>
          </a:xfrm>
          <a:prstGeom prst="rect">
            <a:avLst/>
          </a:prstGeom>
          <a:solidFill>
            <a:srgbClr val="4F81BD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EB48FE0-D7A9-608F-CE4A-F817B8F72424}"/>
              </a:ext>
            </a:extLst>
          </p:cNvPr>
          <p:cNvSpPr txBox="1"/>
          <p:nvPr>
            <p:custDataLst>
              <p:tags r:id="rId16"/>
            </p:custDataLst>
          </p:nvPr>
        </p:nvSpPr>
        <p:spPr>
          <a:xfrm>
            <a:off x="641096" y="3910330"/>
            <a:ext cx="5112004" cy="36830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b="1">
                <a:solidFill>
                  <a:srgbClr val="4F81BD"/>
                </a:solidFill>
                <a:latin typeface="Arial" panose="020B0604020202020204" pitchFamily="34" charset="0"/>
              </a:rPr>
              <a:t>Comparison scope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4A2C6A3-1A5C-8BDF-B8FD-FBCA53DA27B5}"/>
              </a:ext>
            </a:extLst>
          </p:cNvPr>
          <p:cNvSpPr txBox="1"/>
          <p:nvPr>
            <p:custDataLst>
              <p:tags r:id="rId17"/>
            </p:custDataLst>
          </p:nvPr>
        </p:nvSpPr>
        <p:spPr>
          <a:xfrm>
            <a:off x="641096" y="4518693"/>
            <a:ext cx="5112004" cy="852103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b="1">
                <a:solidFill>
                  <a:srgbClr val="202A35"/>
                </a:solidFill>
                <a:latin typeface="Arial" panose="020B0604020202020204" pitchFamily="34" charset="0"/>
              </a:rPr>
              <a:t>The monthly comparison covers January to June 2026. Group comparisons use June records only. Source blanks remain unknown.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5AED644-A784-193D-9D0E-598C5F842854}"/>
              </a:ext>
            </a:extLst>
          </p:cNvPr>
          <p:cNvSpPr/>
          <p:nvPr>
            <p:custDataLst>
              <p:tags r:id="rId18"/>
            </p:custDataLst>
          </p:nvPr>
        </p:nvSpPr>
        <p:spPr>
          <a:xfrm>
            <a:off x="6261100" y="3783330"/>
            <a:ext cx="5467604" cy="1840230"/>
          </a:xfrm>
          <a:prstGeom prst="rect">
            <a:avLst/>
          </a:prstGeom>
          <a:solidFill>
            <a:srgbClr val="F2F2F2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4549910-9A01-4E0E-5EC9-DE7363AD1573}"/>
              </a:ext>
            </a:extLst>
          </p:cNvPr>
          <p:cNvSpPr/>
          <p:nvPr>
            <p:custDataLst>
              <p:tags r:id="rId19"/>
            </p:custDataLst>
          </p:nvPr>
        </p:nvSpPr>
        <p:spPr>
          <a:xfrm>
            <a:off x="6261100" y="3783330"/>
            <a:ext cx="5467604" cy="50800"/>
          </a:xfrm>
          <a:prstGeom prst="rect">
            <a:avLst/>
          </a:prstGeom>
          <a:solidFill>
            <a:srgbClr val="4F81BD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7426830-8742-8175-28A6-8A449B2344E0}"/>
              </a:ext>
            </a:extLst>
          </p:cNvPr>
          <p:cNvSpPr txBox="1"/>
          <p:nvPr>
            <p:custDataLst>
              <p:tags r:id="rId20"/>
            </p:custDataLst>
          </p:nvPr>
        </p:nvSpPr>
        <p:spPr>
          <a:xfrm>
            <a:off x="6438900" y="3910330"/>
            <a:ext cx="5112004" cy="36830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b="1">
                <a:solidFill>
                  <a:srgbClr val="4F81BD"/>
                </a:solidFill>
                <a:latin typeface="Arial" panose="020B0604020202020204" pitchFamily="34" charset="0"/>
              </a:rPr>
              <a:t>Interpretation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9C81E1D-9A24-3258-8C14-7DE4F2C1BFBE}"/>
              </a:ext>
            </a:extLst>
          </p:cNvPr>
          <p:cNvSpPr txBox="1"/>
          <p:nvPr>
            <p:custDataLst>
              <p:tags r:id="rId21"/>
            </p:custDataLst>
          </p:nvPr>
        </p:nvSpPr>
        <p:spPr>
          <a:xfrm>
            <a:off x="6438900" y="4518693"/>
            <a:ext cx="5112004" cy="852103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b="1">
                <a:solidFill>
                  <a:srgbClr val="202A35"/>
                </a:solidFill>
                <a:latin typeface="Arial" panose="020B0604020202020204" pitchFamily="34" charset="0"/>
              </a:rPr>
              <a:t>Operational status and financial performance are separate: a planned action is not a completed result.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B69ED8A-C473-7BA0-BE98-A3564FA9054C}"/>
              </a:ext>
            </a:extLst>
          </p:cNvPr>
          <p:cNvSpPr txBox="1"/>
          <p:nvPr>
            <p:custDataLst>
              <p:tags r:id="rId22"/>
            </p:custDataLst>
          </p:nvPr>
        </p:nvSpPr>
        <p:spPr>
          <a:xfrm>
            <a:off x="463296" y="6412230"/>
            <a:ext cx="10607040" cy="20574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1000">
                <a:solidFill>
                  <a:srgbClr val="000000"/>
                </a:solidFill>
                <a:latin typeface="Arial Narrow" panose="020B0606020202030204" pitchFamily="34" charset="0"/>
              </a:rPr>
              <a:t>Fictional operational source; WB01 Ledger and History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82FA54E-7184-A961-D30E-873837CA3A75}"/>
              </a:ext>
            </a:extLst>
          </p:cNvPr>
          <p:cNvSpPr txBox="1"/>
          <p:nvPr>
            <p:custDataLst>
              <p:tags r:id="rId23"/>
            </p:custDataLst>
          </p:nvPr>
        </p:nvSpPr>
        <p:spPr>
          <a:xfrm>
            <a:off x="11460480" y="6638544"/>
            <a:ext cx="731520" cy="219456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pPr algn="r"/>
            <a:r>
              <a:rPr lang="en-GB" sz="1050">
                <a:solidFill>
                  <a:srgbClr val="000000"/>
                </a:solidFill>
                <a:latin typeface="Calibri" panose="020F0502020204030204" pitchFamily="34" charset="0"/>
              </a:rPr>
              <a:t>- 4 -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C5BE38B-807E-65A0-52FA-2A3B2CA04139}"/>
              </a:ext>
            </a:extLst>
          </p:cNvPr>
          <p:cNvSpPr txBox="1"/>
          <p:nvPr>
            <p:custDataLst>
              <p:tags r:id="rId24"/>
            </p:custDataLst>
          </p:nvPr>
        </p:nvSpPr>
        <p:spPr>
          <a:xfrm>
            <a:off x="463296" y="6652260"/>
            <a:ext cx="3901440" cy="192024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700">
                <a:solidFill>
                  <a:srgbClr val="7F7F7F"/>
                </a:solidFill>
                <a:latin typeface="Arial" panose="020B0604020202020204" pitchFamily="34" charset="0"/>
              </a:rPr>
              <a:t>[Scribble draft]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671969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A9B9C812-F076-42C3-B6AB-20D6724BB099}"/>
              </a:ext>
            </a:extLst>
          </p:cNvPr>
          <p:cNvSpPr>
            <a:spLocks noGrp="1"/>
          </p:cNvSpPr>
          <p:nvPr/>
        </p:nvSpPr>
        <p:spPr>
          <a:xfrm>
            <a:off x="742950" y="361950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1">
                <a:solidFill>
                  <a:srgbClr val="202A35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202A35"/>
                </a:solidFill>
                <a:latin typeface="Arial"/>
                <a:ea typeface="Arial"/>
                <a:cs typeface="Arial"/>
              </a:rPr>
              <a:t>Follow-up register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37D0EC2-69C4-461E-A176-92260998F7A7}"/>
              </a:ext>
            </a:extLst>
          </p:cNvPr>
          <p:cNvSpPr>
            <a:spLocks noGrp="1"/>
          </p:cNvSpPr>
          <p:nvPr/>
        </p:nvSpPr>
        <p:spPr>
          <a:xfrm>
            <a:off x="466725" y="1104900"/>
            <a:ext cx="11249025" cy="2952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4F81BD"/>
                </a:solidFill>
                <a:latin typeface="Arial"/>
                <a:ea typeface="Arial"/>
                <a:cs typeface="Arial"/>
              </a:defRPr>
            </a:pPr>
            <a:r>
              <a:rPr sz="1400" b="0">
                <a:solidFill>
                  <a:srgbClr val="4F81BD"/>
                </a:solidFill>
                <a:latin typeface="Arial"/>
                <a:ea typeface="Arial"/>
                <a:cs typeface="Arial"/>
              </a:rPr>
              <a:t>Atlas Components | sales | January–June 2026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B07E94F-F1C4-4FA1-8599-59B7B877505D}"/>
              </a:ext>
            </a:extLst>
          </p:cNvPr>
          <p:cNvSpPr>
            <a:spLocks noGrp="1"/>
          </p:cNvSpPr>
          <p:nvPr/>
        </p:nvSpPr>
        <p:spPr>
          <a:xfrm>
            <a:off x="466725" y="6410325"/>
            <a:ext cx="1061085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975" b="0">
                <a:solidFill>
                  <a:srgbClr val="596674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96674"/>
                </a:solidFill>
                <a:latin typeface="Arial"/>
                <a:ea typeface="Arial"/>
                <a:cs typeface="Arial"/>
              </a:rPr>
              <a:t>WB01 • Fictional operational source • PPT01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38385D5-9DDB-4C30-A649-15081893C350}"/>
              </a:ext>
            </a:extLst>
          </p:cNvPr>
          <p:cNvSpPr>
            <a:spLocks noGrp="1"/>
          </p:cNvSpPr>
          <p:nvPr/>
        </p:nvSpPr>
        <p:spPr>
          <a:xfrm>
            <a:off x="11458575" y="6438900"/>
            <a:ext cx="542925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975" b="0">
                <a:solidFill>
                  <a:srgbClr val="596674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96674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graphicFrame>
        <p:nvGraphicFramePr>
          <p:cNvPr id="11" name="Table 10"/>
          <p:cNvGraphicFramePr/>
          <p:nvPr/>
        </p:nvGraphicFramePr>
        <p:xfrm>
          <a:off x="800100" y="1943100"/>
          <a:ext cx="10591800" cy="3238500"/>
        </p:xfrm>
        <a:graphic>
          <a:graphicData uri="http://schemas.openxmlformats.org/drawingml/2006/table">
            <a:tbl>
              <a:tblPr/>
              <a:tblGrid>
                <a:gridCol w="29657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130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130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4770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Owner</a:t>
                      </a:r>
                    </a:p>
                  </a:txBody>
                  <a:tcPr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Proposed follow-up</a:t>
                      </a:r>
                    </a:p>
                  </a:txBody>
                  <a:tcPr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Due date</a:t>
                      </a:r>
                    </a:p>
                  </a:txBody>
                  <a:tcPr>
                    <a:solidFill>
                      <a:srgbClr val="4F81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02A35"/>
                          </a:solidFill>
                          <a:latin typeface="Arial"/>
                          <a:ea typeface="Arial"/>
                          <a:cs typeface="Arial"/>
                        </a:rPr>
                        <a:t>Mira Cole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02A35"/>
                          </a:solidFill>
                          <a:latin typeface="Arial"/>
                          <a:ea typeface="Arial"/>
                          <a:cs typeface="Arial"/>
                        </a:rPr>
                        <a:t>Reconcile North source records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02A35"/>
                          </a:solidFill>
                          <a:latin typeface="Arial"/>
                          <a:ea typeface="Arial"/>
                          <a:cs typeface="Arial"/>
                        </a:rPr>
                        <a:t>2026-07-10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02A35"/>
                          </a:solidFill>
                          <a:latin typeface="Arial"/>
                          <a:ea typeface="Arial"/>
                          <a:cs typeface="Arial"/>
                        </a:rPr>
                        <a:t>Leon Park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02A35"/>
                          </a:solidFill>
                          <a:latin typeface="Arial"/>
                          <a:ea typeface="Arial"/>
                          <a:cs typeface="Arial"/>
                        </a:rPr>
                        <a:t>Review South exceptions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02A35"/>
                          </a:solidFill>
                          <a:latin typeface="Arial"/>
                          <a:ea typeface="Arial"/>
                          <a:cs typeface="Arial"/>
                        </a:rPr>
                        <a:t>2026-07-12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02A35"/>
                          </a:solidFill>
                          <a:latin typeface="Arial"/>
                          <a:ea typeface="Arial"/>
                          <a:cs typeface="Arial"/>
                        </a:rPr>
                        <a:t>Nadia Shah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02A35"/>
                          </a:solidFill>
                          <a:latin typeface="Arial"/>
                          <a:ea typeface="Arial"/>
                          <a:cs typeface="Arial"/>
                        </a:rPr>
                        <a:t>Confirm East operating assumptions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02A35"/>
                          </a:solidFill>
                          <a:latin typeface="Arial"/>
                          <a:ea typeface="Arial"/>
                          <a:cs typeface="Arial"/>
                        </a:rPr>
                        <a:t>2026-07-14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02A35"/>
                          </a:solidFill>
                          <a:latin typeface="Arial"/>
                          <a:ea typeface="Arial"/>
                          <a:cs typeface="Arial"/>
                        </a:rPr>
                        <a:t>Evan Reed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02A35"/>
                          </a:solidFill>
                          <a:latin typeface="Arial"/>
                          <a:ea typeface="Arial"/>
                          <a:cs typeface="Arial"/>
                        </a:rPr>
                        <a:t>Review West source completeness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02A35"/>
                          </a:solidFill>
                          <a:latin typeface="Arial"/>
                          <a:ea typeface="Arial"/>
                          <a:cs typeface="Arial"/>
                        </a:rPr>
                        <a:t>2026-07-16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DDEFC937-2955-487A-9B78-994FFA64792D}"/>
              </a:ext>
            </a:extLst>
          </p:cNvPr>
          <p:cNvSpPr>
            <a:spLocks noGrp="1"/>
          </p:cNvSpPr>
          <p:nvPr/>
        </p:nvSpPr>
        <p:spPr>
          <a:xfrm>
            <a:off x="800100" y="5610225"/>
            <a:ext cx="10572750" cy="4095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0">
                <a:solidFill>
                  <a:srgbClr val="59667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96674"/>
                </a:solidFill>
                <a:latin typeface="Arial"/>
                <a:ea typeface="Arial"/>
                <a:cs typeface="Arial"/>
              </a:rPr>
              <a:t>All follow-ups are planned. Completion and savings are not confirmed.</a:t>
            </a:r>
          </a:p>
        </p:txBody>
      </p:sp>
    </p:spTree>
    <p:extLst>
      <p:ext uri="{BB962C8B-B14F-4D97-AF65-F5344CB8AC3E}">
        <p14:creationId xmlns:p14="http://schemas.microsoft.com/office/powerpoint/2010/main" val="17424149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27930F9-CFB7-4295-B66E-527C123B2258}"/>
              </a:ext>
            </a:extLst>
          </p:cNvPr>
          <p:cNvSpPr>
            <a:spLocks noGrp="1"/>
          </p:cNvSpPr>
          <p:nvPr/>
        </p:nvSpPr>
        <p:spPr>
          <a:xfrm>
            <a:off x="742950" y="361950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1">
                <a:solidFill>
                  <a:srgbClr val="202A35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202A35"/>
                </a:solidFill>
                <a:latin typeface="Arial"/>
                <a:ea typeface="Arial"/>
                <a:cs typeface="Arial"/>
              </a:rPr>
              <a:t>Source coverage and definitions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C004DF6-4434-4BF5-A26F-DDCE0E34624F}"/>
              </a:ext>
            </a:extLst>
          </p:cNvPr>
          <p:cNvSpPr>
            <a:spLocks noGrp="1"/>
          </p:cNvSpPr>
          <p:nvPr/>
        </p:nvSpPr>
        <p:spPr>
          <a:xfrm>
            <a:off x="466725" y="1104900"/>
            <a:ext cx="11249025" cy="2952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4F81BD"/>
                </a:solidFill>
                <a:latin typeface="Arial"/>
                <a:ea typeface="Arial"/>
                <a:cs typeface="Arial"/>
              </a:defRPr>
            </a:pPr>
            <a:r>
              <a:rPr sz="1400" b="0">
                <a:solidFill>
                  <a:srgbClr val="4F81BD"/>
                </a:solidFill>
                <a:latin typeface="Arial"/>
                <a:ea typeface="Arial"/>
                <a:cs typeface="Arial"/>
              </a:rPr>
              <a:t>Atlas Components | sales | January–June 2026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B4B99C4-48CD-4B03-B3BA-AEC82EB16665}"/>
              </a:ext>
            </a:extLst>
          </p:cNvPr>
          <p:cNvSpPr>
            <a:spLocks noGrp="1"/>
          </p:cNvSpPr>
          <p:nvPr/>
        </p:nvSpPr>
        <p:spPr>
          <a:xfrm>
            <a:off x="466725" y="6410325"/>
            <a:ext cx="1061085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975" b="0">
                <a:solidFill>
                  <a:srgbClr val="596674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96674"/>
                </a:solidFill>
                <a:latin typeface="Arial"/>
                <a:ea typeface="Arial"/>
                <a:cs typeface="Arial"/>
              </a:rPr>
              <a:t>WB01 • Fictional operational source • PPT01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9902CBD-90D1-4178-A4E2-7E2611402662}"/>
              </a:ext>
            </a:extLst>
          </p:cNvPr>
          <p:cNvSpPr>
            <a:spLocks noGrp="1"/>
          </p:cNvSpPr>
          <p:nvPr/>
        </p:nvSpPr>
        <p:spPr>
          <a:xfrm>
            <a:off x="11458575" y="6438900"/>
            <a:ext cx="542925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975" b="0">
                <a:solidFill>
                  <a:srgbClr val="596674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96674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0255E10-C2E7-4DA4-B612-16ACA52BAA65}"/>
              </a:ext>
            </a:extLst>
          </p:cNvPr>
          <p:cNvSpPr>
            <a:spLocks noGrp="1"/>
          </p:cNvSpPr>
          <p:nvPr/>
        </p:nvSpPr>
        <p:spPr>
          <a:xfrm>
            <a:off x="800100" y="1971675"/>
            <a:ext cx="10572750" cy="3524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202A3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2A35"/>
                </a:solidFill>
                <a:latin typeface="Arial"/>
                <a:ea typeface="Arial"/>
                <a:cs typeface="Arial"/>
              </a:rPr>
              <a:t>Workbook: WB01</a:t>
            </a:r>
          </a:p>
          <a:p>
            <a:pPr>
              <a:defRPr sz="1875" b="0">
                <a:solidFill>
                  <a:srgbClr val="202A3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2A35"/>
                </a:solidFill>
                <a:latin typeface="Arial"/>
                <a:ea typeface="Arial"/>
                <a:cs typeface="Arial"/>
              </a:rPr>
              <a:t>Period: January–June 2026</a:t>
            </a:r>
          </a:p>
          <a:p>
            <a:pPr>
              <a:defRPr sz="1875" b="0">
                <a:solidFill>
                  <a:srgbClr val="202A3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2A35"/>
                </a:solidFill>
                <a:latin typeface="Arial"/>
                <a:ea typeface="Arial"/>
                <a:cs typeface="Arial"/>
              </a:rPr>
              <a:t>Groups: North, South, East, West</a:t>
            </a:r>
          </a:p>
          <a:p>
            <a:pPr>
              <a:defRPr sz="1875" b="0">
                <a:solidFill>
                  <a:srgbClr val="202A3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2A35"/>
                </a:solidFill>
                <a:latin typeface="Arial"/>
                <a:ea typeface="Arial"/>
                <a:cs typeface="Arial"/>
              </a:rPr>
              <a:t>Measures: Revenue EUR; Cost EUR</a:t>
            </a:r>
          </a:p>
          <a:p>
            <a:pPr>
              <a:defRPr sz="1875" b="0">
                <a:solidFill>
                  <a:srgbClr val="202A3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2A35"/>
                </a:solidFill>
                <a:latin typeface="Arial"/>
                <a:ea typeface="Arial"/>
                <a:cs typeface="Arial"/>
              </a:rPr>
              <a:t>June source measures are complete.</a:t>
            </a:r>
          </a:p>
          <a:p>
            <a:pPr>
              <a:defRPr sz="1875" b="0">
                <a:solidFill>
                  <a:srgbClr val="202A3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2A35"/>
                </a:solidFill>
                <a:latin typeface="Arial"/>
                <a:ea typeface="Arial"/>
                <a:cs typeface="Arial"/>
              </a:rPr>
              <a:t>Rates use the aggregate numerator and denominator, not an average of row rates.</a:t>
            </a:r>
          </a:p>
        </p:txBody>
      </p:sp>
    </p:spTree>
    <p:extLst>
      <p:ext uri="{BB962C8B-B14F-4D97-AF65-F5344CB8AC3E}">
        <p14:creationId xmlns:p14="http://schemas.microsoft.com/office/powerpoint/2010/main" val="194380393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REVISIONDRAFT" val="phase4-pp01-native"/>
  <p:tag name="SCRIBBLEPRESENTATIONID" val="1b1cd9c4bddc4044b27c12e1a5bacd42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2b5a6f0519ff4b5bb92b85d4b79ecd54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2b5a6f0519ff4b5bb92b85d4b79ecd54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2b5a6f0519ff4b5bb92b85d4b79ecd54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2b5a6f0519ff4b5bb92b85d4b79ecd54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2b5a6f0519ff4b5bb92b85d4b79ecd54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2b5a6f0519ff4b5bb92b85d4b79ecd54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2b5a6f0519ff4b5bb92b85d4b79ecd54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2b5a6f0519ff4b5bb92b85d4b79ecd54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2b5a6f0519ff4b5bb92b85d4b79ecd54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2b5a6f0519ff4b5bb92b85d4b79ecd54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2b5a6f0519ff4b5bb92b85d4b79ecd54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2b5a6f0519ff4b5bb92b85d4b79ecd54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2b5a6f0519ff4b5bb92b85d4b79ecd54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2b5a6f0519ff4b5bb92b85d4b79ecd54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2b5a6f0519ff4b5bb92b85d4b79ecd54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2b5a6f0519ff4b5bb92b85d4b79ecd54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2b5a6f0519ff4b5bb92b85d4b79ecd54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2b5a6f0519ff4b5bb92b85d4b79ecd54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2b5a6f0519ff4b5bb92b85d4b79ecd54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2b5a6f0519ff4b5bb92b85d4b79ecd54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2b5a6f0519ff4b5bb92b85d4b79ecd54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2b5a6f0519ff4b5bb92b85d4b79ecd54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2b5a6f0519ff4b5bb92b85d4b79ecd54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2b5a6f0519ff4b5bb92b85d4b79ecd54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544</Words>
  <Application>Microsoft Office PowerPoint</Application>
  <PresentationFormat>Custom</PresentationFormat>
  <Paragraphs>85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Aptos</vt:lpstr>
      <vt:lpstr>Aptos Display</vt:lpstr>
      <vt:lpstr>Arial</vt:lpstr>
      <vt:lpstr>Arial Narrow</vt:lpstr>
      <vt:lpstr>Calibri</vt:lpstr>
      <vt:lpstr>Samsung Sharp Sans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Office</dc:creator>
  <cp:lastModifiedBy>Office</cp:lastModifiedBy>
  <cp:revision>28</cp:revision>
  <dcterms:created xsi:type="dcterms:W3CDTF">2026-09-24T16:21:08Z</dcterms:created>
  <dcterms:modified xsi:type="dcterms:W3CDTF">2026-09-24T16:22:27Z</dcterms:modified>
</cp:coreProperties>
</file>