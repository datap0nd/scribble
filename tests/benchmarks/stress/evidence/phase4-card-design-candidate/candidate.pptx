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3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en-GB" sz="1000" b="1">
                <a:solidFill>
                  <a:srgbClr val="404040"/>
                </a:solidFill>
                <a:latin typeface="Samsung Sharp Sans Bold"/>
              </a:rPr>
              <a:t>Revenue EUR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Revenue EUR</c:v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B9BD5"/>
              </a:solidFill>
              <a:ln w="25400">
                <a:solidFill>
                  <a:srgbClr val="4F81B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98A-497D-A855-D59C9C9E5D1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2026-05</c:v>
                </c:pt>
                <c:pt idx="1">
                  <c:v>2026-06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85519</c:v>
                </c:pt>
                <c:pt idx="1">
                  <c:v>82992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8A-497D-A855-D59C9C9E5D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44202911"/>
        <c:axId val="568643407"/>
      </c:barChart>
      <c:catAx>
        <c:axId val="5442029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8643407"/>
        <c:crosses val="autoZero"/>
        <c:auto val="1"/>
        <c:lblAlgn val="ctr"/>
        <c:lblOffset val="100"/>
        <c:noMultiLvlLbl val="0"/>
      </c:catAx>
      <c:valAx>
        <c:axId val="568643407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4202911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42993-C7A1-4911-8186-EF8276385D38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D1E045-AADE-4805-8F41-EC3C17D878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635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excel:d55e0301f4874a208f421bf5e82683c0 / Ledger!I3; excel:d55e0301f4874a208f421bf5e82683c0 / Ledger!J3
Evidence:
RevenueEUR [fact_a19a9c0c6ae87ec5c5eb99bc] = 82992 (excel:d55e0301f4874a208f421bf5e82683c0 / Ledger!I3)
CostEUR [fact_64af286fb58968a9e5b8ae57] = 36714 (excel:d55e0301f4874a208f421bf5e82683c0 / Ledger!J3)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D1E045-AADE-4805-8F41-EC3C17D8780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542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excel:d55e0301f4874a208f421bf5e82683c0 / Ledger!I2; excel:d55e0301f4874a208f421bf5e82683c0 / Ledger!I3; excel:d55e0301f4874a208f421bf5e82683c0 / Ledger!J2; excel:d55e0301f4874a208f421bf5e82683c0 / Ledger!J3
Evidence:
RevenueEUR [fact_deadd77e8d0a7891c340c4b6] = 85519 (excel:d55e0301f4874a208f421bf5e82683c0 / Ledger!I2)
RevenueEUR [fact_a19a9c0c6ae87ec5c5eb99bc] = 82992 (excel:d55e0301f4874a208f421bf5e82683c0 / Ledger!I3)
CostEUR [fact_0a0ea4c83bf5cd417c659b1b] = 36702 (excel:d55e0301f4874a208f421bf5e82683c0 / Ledger!J2)
CostEUR [fact_64af286fb58968a9e5b8ae57] = 36714 (excel:d55e0301f4874a208f421bf5e82683c0 / Ledger!J3)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D1E045-AADE-4805-8F41-EC3C17D8780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4798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excel:d55e0301f4874a208f421bf5e82683c0 / Ledger!I2; excel:d55e0301f4874a208f421bf5e82683c0 / Ledger!I3; excel:d55e0301f4874a208f421bf5e82683c0 / Ledger!J2; excel:d55e0301f4874a208f421bf5e82683c0 / Ledger!J3
Evidence:
RevenueEUR [fact_deadd77e8d0a7891c340c4b6] = 85519 (excel:d55e0301f4874a208f421bf5e82683c0 / Ledger!I2)
RevenueEUR [fact_a19a9c0c6ae87ec5c5eb99bc] = 82992 (excel:d55e0301f4874a208f421bf5e82683c0 / Ledger!I3)
CostEUR [fact_0a0ea4c83bf5cd417c659b1b] = 36702 (excel:d55e0301f4874a208f421bf5e82683c0 / Ledger!J2)
CostEUR [fact_64af286fb58968a9e5b8ae57] = 36714 (excel:d55e0301f4874a208f421bf5e82683c0 / Ledger!J3)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D1E045-AADE-4805-8F41-EC3C17D8780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219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D1E045-AADE-4805-8F41-EC3C17D8780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815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C687E-0A98-37B6-CEF5-E7302407F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9F9FAB-A22D-EBF8-8EBC-C03471B551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479AD-649A-43B0-136E-742726494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F8943-DF88-462E-AA92-94571C1C126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1306D-BAEE-1466-E053-676F86C87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8C458-5050-3665-EDF5-7C303B212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C8D36-0192-4899-846F-D49D8671CD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513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27BA2-1B62-475E-6540-D6ADE050B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CEFAF-C4F4-A445-F7E5-C2BAA019D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E0557-A5C3-F002-7E63-213D87825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F8943-DF88-462E-AA92-94571C1C126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A17A8-C75B-AD81-0A9D-A60F3FBD1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223B1-3924-784B-D5E7-B0506B568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C8D36-0192-4899-846F-D49D8671CD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215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A9DE4-F483-1453-DF38-0D591B20E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443CB-9C1A-707D-E8D7-B8FBE7595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F38B-FCB5-3C1E-2F14-D5FCD5913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F8943-DF88-462E-AA92-94571C1C126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EF54F-90AA-731C-8CAA-4810E8B96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E282F-33D9-C42E-51A3-D56FD60F8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C8D36-0192-4899-846F-D49D8671CD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55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73428-663C-E2EB-F6E9-A6FC7D778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C2151-B23F-AF7E-E211-6D943D69D9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4C1E1-47C0-790E-B7FA-8606E7D7E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AC4F25-97E9-826F-6D46-1CC67428D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F8943-DF88-462E-AA92-94571C1C126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0A202-CEF8-ED5B-EB51-DDAC30F79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E2E80F-9097-043E-0411-C304C92A4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C8D36-0192-4899-846F-D49D8671CD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7012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B8560-009C-2AF9-A1B2-0579943A3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2FA9F-4DD0-C7BE-A741-9EC352F3F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48F4F0-96C8-5D82-99F5-426E41A0A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A58230-9217-EB34-65B0-C4F7F34ECE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83998D-D9DC-222D-56EF-D4BFF28699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CE2765-DA0D-263E-B5D8-04DD740D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F8943-DF88-462E-AA92-94571C1C126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DC56EA-2FA7-C166-659C-49E691246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EADE8B-6B8F-4927-749C-F4AF8B494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C8D36-0192-4899-846F-D49D8671CD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6017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D412E-3F59-C7F4-1CAB-9E9277E13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CFBD5E-B69A-5B4B-ED7C-6144C1CED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F8943-DF88-462E-AA92-94571C1C126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28D286-85F9-B0E8-CDCD-B6B0BAB0F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BBC54F-4814-4B48-DC28-D5D24E828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C8D36-0192-4899-846F-D49D8671CD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22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3E5470-AAA5-408F-8F04-C8F38067F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F8943-DF88-462E-AA92-94571C1C126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2602E0-1D09-9922-C65D-6B6FD3D1B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2D55E-F212-8A2F-2E60-428D5ACE5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C8D36-0192-4899-846F-D49D8671CD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947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09112-BB56-5C6E-787A-2F43594FB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ED13D-0645-18C0-444A-2F98EE99C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269E4-8BBC-A692-A0D6-94BD020E5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E7494-2F2D-6563-145C-1B67E62DE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F8943-DF88-462E-AA92-94571C1C126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B4AA8-5998-8379-E312-0E757A682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C8838C-6B9F-EE7C-9373-8D18DC0D6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C8D36-0192-4899-846F-D49D8671CD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7729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21B94-BD0F-6999-227C-EC17CD753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DF4CE7-2C34-D990-0618-A5269642DB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92E113-E07E-68B8-E6F5-3B390C4C0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29F87-7703-762C-A63B-97DC179AD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F8943-DF88-462E-AA92-94571C1C126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3D298-9D75-3FDD-360F-1A181EF81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311C0-FB43-0D1B-6112-E0BD91710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C8D36-0192-4899-846F-D49D8671CD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961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F442B-74D0-FAD9-C0F2-377A431CA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A9480-CF85-E572-E87E-E88AA3D90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CCFBA-A48B-E778-846D-8314F5A17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F8943-DF88-462E-AA92-94571C1C126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8F39C-092F-991E-4B22-83B88DBEF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874D1-7AE2-7D59-74BB-71BB0E5DE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C8D36-0192-4899-846F-D49D8671CD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942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E8107D-34E9-F1D7-5D32-1A2EDDCC7A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DA5367-9D61-C0EF-89AD-8E57230E4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BC5C0-113F-73C1-916A-BDC77DC0A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F8943-DF88-462E-AA92-94571C1C126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3D0DE-2E6C-7EA2-08D1-220E8615C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A24D7-720B-55C9-D588-5F753AAC7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C8D36-0192-4899-846F-D49D8671CD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6362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4430D-5BCA-2E5B-E291-42F711C76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B4DA1-81E7-E7B7-4F40-6C19BA032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351FC-153A-8BDF-0692-EF0672EF0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2F8943-DF88-462E-AA92-94571C1C126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376D4-7BA8-61DE-8A92-5B28FE6AAA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70EB5-867E-82A0-0148-AE6114BBF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0C8D36-0192-4899-846F-D49D8671CD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2835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chart" Target="../charts/chart1.xml"/><Relationship Id="rId5" Type="http://schemas.openxmlformats.org/officeDocument/2006/relationships/tags" Target="../tags/tag19.xml"/><Relationship Id="rId10" Type="http://schemas.openxmlformats.org/officeDocument/2006/relationships/notesSlide" Target="../notesSlides/notesSlide2.xml"/><Relationship Id="rId4" Type="http://schemas.openxmlformats.org/officeDocument/2006/relationships/tags" Target="../tags/tag18.xml"/><Relationship Id="rId9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notesSlide" Target="../notesSlides/notesSlide4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34.xml"/><Relationship Id="rId10" Type="http://schemas.openxmlformats.org/officeDocument/2006/relationships/tags" Target="../tags/tag39.xml"/><Relationship Id="rId4" Type="http://schemas.openxmlformats.org/officeDocument/2006/relationships/tags" Target="../tags/tag33.xml"/><Relationship Id="rId9" Type="http://schemas.openxmlformats.org/officeDocument/2006/relationships/tags" Target="../tags/tag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A2C838-D051-30D6-4555-53210E34514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June revenue at a glance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C41F5F-4D06-2328-52ED-1917C46F31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Verified revenue: 82,992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390F98-EC5E-B4C5-6A0A-DAA6AD75CFD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33984" y="2321560"/>
            <a:ext cx="5347716" cy="2489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836D6B-9625-CEAD-9F9F-5DB5F677996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33984" y="2321560"/>
            <a:ext cx="5347716" cy="76200"/>
          </a:xfrm>
          <a:prstGeom prst="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C637D4-14CE-89FE-0573-7A0906F04AD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11784" y="2524760"/>
            <a:ext cx="4992116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FFFFFF"/>
                </a:solidFill>
                <a:latin typeface="Arial" panose="020B0604020202020204" pitchFamily="34" charset="0"/>
              </a:rPr>
              <a:t>JUNE REVENUE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8E5D77-562A-76E8-2BF4-42685927E1C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811784" y="3096260"/>
            <a:ext cx="4992116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Arial" panose="020B0604020202020204" pitchFamily="34" charset="0"/>
              </a:rPr>
              <a:t>82,992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4302BF-D3DB-CFDE-9E6D-99148F5FF14B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210300" y="2321560"/>
            <a:ext cx="5347715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D2ECCD-DBFA-9719-2B1E-387C37E1874A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210300" y="2321560"/>
            <a:ext cx="5347715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E87225-7DA0-3499-54F4-C0B7661C40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6388100" y="2524760"/>
            <a:ext cx="4992116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JUNE COST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72B03C-6D8A-96E3-C64F-50AFF6BD8B06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388100" y="3096260"/>
            <a:ext cx="4992116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36,714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855767-2197-8F8F-92B6-61ADC3972048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Source: Ledger!I3; Ledger!J3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4B720E-D997-9941-375A-B6741B06119B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- 1 -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46CD4A-5358-DFC3-6BB7-69012F3864AB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4368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5672F2-13A9-1834-F520-984034F105F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Two period comparison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8BC050-1A6A-DC87-3EAF-9E461FCE19C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C9BA41-EB25-4F7D-31FD-4575648C073F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624171893"/>
              </p:ext>
            </p:extLst>
          </p:nvPr>
        </p:nvGraphicFramePr>
        <p:xfrm>
          <a:off x="585216" y="2057400"/>
          <a:ext cx="5145023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7037">
                  <a:extLst>
                    <a:ext uri="{9D8B030D-6E8A-4147-A177-3AD203B41FA5}">
                      <a16:colId xmlns:a16="http://schemas.microsoft.com/office/drawing/2014/main" val="2505075489"/>
                    </a:ext>
                  </a:extLst>
                </a:gridCol>
                <a:gridCol w="1533993">
                  <a:extLst>
                    <a:ext uri="{9D8B030D-6E8A-4147-A177-3AD203B41FA5}">
                      <a16:colId xmlns:a16="http://schemas.microsoft.com/office/drawing/2014/main" val="4179989025"/>
                    </a:ext>
                  </a:extLst>
                </a:gridCol>
                <a:gridCol w="1533993">
                  <a:extLst>
                    <a:ext uri="{9D8B030D-6E8A-4147-A177-3AD203B41FA5}">
                      <a16:colId xmlns:a16="http://schemas.microsoft.com/office/drawing/2014/main" val="3647590713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Metric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May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June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11702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Revenue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85,519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82,992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8673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Cost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36,702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676473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EF91E36-454E-8177-7C06-3806B7307581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587253716"/>
              </p:ext>
            </p:extLst>
          </p:nvPr>
        </p:nvGraphicFramePr>
        <p:xfrm>
          <a:off x="5806439" y="1851660"/>
          <a:ext cx="5388864" cy="3287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D612693-4DFB-19A1-78D5-35C2AEDE8F3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Source: Ledger (4 references; details in notes)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23FD30-9149-2E11-5C8B-2180682F3C12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- 2 -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E1F9E2-01CC-8766-F37E-A5A72A9B92D7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4143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40F06A-0ADF-E75B-6763-366DDB1A151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Revenue and cost detail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38E258-A226-E186-4790-1445F4A1AD4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0AE109-4221-A694-091B-7211A1395D90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783134483"/>
              </p:ext>
            </p:extLst>
          </p:nvPr>
        </p:nvGraphicFramePr>
        <p:xfrm>
          <a:off x="1036320" y="2739390"/>
          <a:ext cx="1011936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5168">
                  <a:extLst>
                    <a:ext uri="{9D8B030D-6E8A-4147-A177-3AD203B41FA5}">
                      <a16:colId xmlns:a16="http://schemas.microsoft.com/office/drawing/2014/main" val="2567376701"/>
                    </a:ext>
                  </a:extLst>
                </a:gridCol>
                <a:gridCol w="3017096">
                  <a:extLst>
                    <a:ext uri="{9D8B030D-6E8A-4147-A177-3AD203B41FA5}">
                      <a16:colId xmlns:a16="http://schemas.microsoft.com/office/drawing/2014/main" val="862906673"/>
                    </a:ext>
                  </a:extLst>
                </a:gridCol>
                <a:gridCol w="3017096">
                  <a:extLst>
                    <a:ext uri="{9D8B030D-6E8A-4147-A177-3AD203B41FA5}">
                      <a16:colId xmlns:a16="http://schemas.microsoft.com/office/drawing/2014/main" val="3430651305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Metric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May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June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12051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Revenue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85,519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82,992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863197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Cost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36,702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7787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5FA8627-1E7D-207F-EC10-6007431A437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Source: Ledger (4 references; details in notes)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57E97D-A0ED-50F1-F72E-EF9C34E176A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- 3 -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E7716C-ADBD-7F25-8578-8DC40442213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1320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F28593-E60E-7FDF-8A3F-34EAC09E446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What the ledger supports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9ED519-D94F-85C1-FDE2-7940222FA17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E9F2A7-7A9C-EB83-D010-EA067BA43CA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41096" y="1816100"/>
            <a:ext cx="10909807" cy="3705860"/>
          </a:xfrm>
          <a:prstGeom prst="rect">
            <a:avLst/>
          </a:prstGeom>
          <a:solidFill>
            <a:srgbClr val="17365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45F8F9-5623-E619-E949-8F2C26A8B22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41096" y="1816100"/>
            <a:ext cx="10909807" cy="76200"/>
          </a:xfrm>
          <a:prstGeom prst="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5F2624-0A24-7D0D-585F-84AF7EEC175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072896" y="2209800"/>
            <a:ext cx="10046208" cy="381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 b="1">
                <a:solidFill>
                  <a:srgbClr val="B8D8FF"/>
                </a:solidFill>
                <a:latin typeface="Arial" panose="020B0604020202020204" pitchFamily="34" charset="0"/>
              </a:rPr>
              <a:t>EVIDENCE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181F30-E7CF-C25E-9729-81A38FD5FD2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072896" y="2882900"/>
            <a:ext cx="10046208" cy="214376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600" b="1">
                <a:solidFill>
                  <a:srgbClr val="FFFFFF"/>
                </a:solidFill>
                <a:latin typeface="Arial" panose="020B0604020202020204" pitchFamily="34" charset="0"/>
              </a:rPr>
              <a:t>Verified workbook range and live formulas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D81A4C-DC02-69B6-75E5-199CAA63705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72896" y="5090160"/>
            <a:ext cx="2159000" cy="50800"/>
          </a:xfrm>
          <a:prstGeom prst="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DA45E6-A378-1685-E3F9-F19642607B65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- 4 -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AB05B1-BB65-7B5A-D2A7-1E99477669D3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67707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36d576f515554480b9203f14003345d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</Words>
  <Application>Microsoft Office PowerPoint</Application>
  <PresentationFormat>Custom</PresentationFormat>
  <Paragraphs>49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Arial Narrow</vt:lpstr>
      <vt:lpstr>Calibri</vt:lpstr>
      <vt:lpstr>Samsung Sharp Sans 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37</cp:revision>
  <dcterms:created xsi:type="dcterms:W3CDTF">2026-09-24T14:43:34Z</dcterms:created>
  <dcterms:modified xsi:type="dcterms:W3CDTF">2026-09-24T14:43:56Z</dcterms:modified>
</cp:coreProperties>
</file>