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fr-FR" sz="1000" b="1">
                <a:solidFill>
                  <a:srgbClr val="404040"/>
                </a:solidFill>
                <a:latin typeface="Samsung Sharp Sans Bold"/>
              </a:rPr>
              <a:t>Revenue EUR / Cost EUR (EUR)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85465</c:v>
                </c:pt>
                <c:pt idx="1">
                  <c:v>86227</c:v>
                </c:pt>
                <c:pt idx="2">
                  <c:v>81867</c:v>
                </c:pt>
                <c:pt idx="3">
                  <c:v>80048</c:v>
                </c:pt>
                <c:pt idx="4">
                  <c:v>85519</c:v>
                </c:pt>
                <c:pt idx="5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90-4056-B33F-EBE6E92241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EUR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37923</c:v>
                </c:pt>
                <c:pt idx="1">
                  <c:v>35861</c:v>
                </c:pt>
                <c:pt idx="2">
                  <c:v>34892</c:v>
                </c:pt>
                <c:pt idx="3">
                  <c:v>34407</c:v>
                </c:pt>
                <c:pt idx="4">
                  <c:v>36702</c:v>
                </c:pt>
                <c:pt idx="5">
                  <c:v>36714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90-4056-B33F-EBE6E9224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5090687"/>
        <c:axId val="530414928"/>
      </c:barChart>
      <c:catAx>
        <c:axId val="1405090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414928"/>
        <c:crosses val="autoZero"/>
        <c:auto val="1"/>
        <c:lblAlgn val="ctr"/>
        <c:lblOffset val="100"/>
        <c:noMultiLvlLbl val="0"/>
      </c:catAx>
      <c:valAx>
        <c:axId val="53041492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5090687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F09AF4-AE86-4D78-A657-8C5B40548B9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98DA3-AE16-47B9-B9D4-A6E41855F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18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  <a:r>
              <a:rPr lang="en-GB"/>
              <a:t>
WB01 Ledger and History
Fictional operational source
Evidence:
Source content retained in native editable cards.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729F-683E-B618-0FCD-0C796A0D7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05619-39A5-FE9B-7BAA-AE16A4D7D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7A488-7A86-5D0F-5F5A-BE624A9D2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53A93-29D6-3C89-B6E6-86AD2D41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F83D9-8F4C-1C21-2F8F-749D21AB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117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E945-D8A6-CE66-CD2F-65BE53FD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F030-80FF-9550-4342-382F53742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00D67-7FC6-D293-9DC0-0E1EF3BB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8EF06-393F-A94E-071B-23C9B33BA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221B4-9300-09F5-E500-EF31EC6C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31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8DDBB-27DC-9C3B-EB0B-AEC11C84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25D91-7970-A15D-CA19-C7A157C28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3829C-C7AB-9A77-28DA-33020DE2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2225B-5E22-71F5-B0FC-FF99399B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7BB0-1E6A-1A63-2F74-383965D0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3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12D40-ECDA-8CD1-7430-152A034D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C2A4B-4122-1348-AF1B-3DDF1EFBB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5D1ED-DBC3-285B-B159-16C8D0B62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77131-0B45-C7D8-E65B-84EB5DBA3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DBC47-17A2-163D-2E72-9B6625D2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2CCE1-D43B-FF8A-B1EA-56393ED3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3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E2BFC-CAF5-083D-F239-7A529BDD8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BCE2E-9FCC-811C-236B-52C7BF14B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5EB42-6AC0-23E4-5FB4-2DC3CBF85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D6FFCE-1DD7-C448-240F-56E850126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B8FCB-1DD1-2CD7-2B12-0ED5EFA94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F860E-211C-15F1-F28B-A7732FAB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647E0-C745-1916-342E-43C75506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23173-C083-DF40-E724-BF8EEBE87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987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FA31-8C3F-04E2-51F3-02E21F0D2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1F5E1-5970-EE72-BF58-018C428A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1D943F-A8F3-E732-5032-69F99E2A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8B9E5-9229-3E2D-E2D4-BF2332A1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776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11B2D1-5835-1031-20E3-F7449A896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DDBBD-FDBB-37FE-54B9-533E3B19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ED901-1B31-2C50-0155-18811210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65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B5F61-D8CA-01B6-4137-FDD27DB2E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0BE63-EF1B-DC6E-EAA5-0131B9744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ECFFA-852F-39A4-A2A2-8A5D37B6D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BB876-2059-163F-B311-C3FCA221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6D0C0-9874-F704-6924-57BC0337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280AA-702C-FB19-DD57-08D0FC178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83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27AC-B7B6-9562-AA46-0150D402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1683-4785-592E-34F3-50FAE8DE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F69C9-C69E-504D-18D1-C23EA5084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C67BF-3457-BC66-CD0F-12B489BD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785D3-4FF7-FEA2-0A46-D77AC5D3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1B2D4-6269-E3E2-CD4C-447F8951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632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E9AA-5B08-3806-F43B-F84E1E6E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585C8-821A-8832-C025-5A9812A2B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C1B3E-801F-F888-63D5-6D2A7A2B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CD23-E266-2072-5A26-E37E9A4D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EDD84-1D25-78BD-9FB3-658EAED0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56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2A057-1C99-BC67-E5FF-16FFF869B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3419A-F187-ED7E-9DE7-59564E6D7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2A47C-0377-0499-738B-77794C55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07DF6-13A9-9995-8F3A-6F2C2959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4EBAB-C5B4-DD14-DC8A-ED4C55D8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42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81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B4744F-341A-48D6-4F71-9C5420F93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D404F-02DC-D458-AE0C-A9016388A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505A7-7AE9-DA9B-C40E-846061F69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99F34C-BFAA-4D38-AB55-BE9CFAC117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7EBC7-FCE8-8A71-B1CC-9396BB238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CCC52-10B0-D901-DDFD-0846B265C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8D8BF-4970-422B-9E69-649BB236B5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9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notesSlide" Target="../notesSlides/notesSlide4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1B4575-510A-42C0-995A-F3A2B9ADF90D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Atlas Components: sales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AFDAFC-044F-477E-98F0-1757A8BDFB44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258CC7-3C2F-430B-A95F-A485477EDD85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E946D-8A69-43DC-A2AF-7A9866D83957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6192F-D87A-45AA-A263-4EDB75BBF2B5}"/>
              </a:ext>
            </a:extLst>
          </p:cNvPr>
          <p:cNvSpPr>
            <a:spLocks noGrp="1"/>
          </p:cNvSpPr>
          <p:nvPr/>
        </p:nvSpPr>
        <p:spPr>
          <a:xfrm>
            <a:off x="809625" y="2095500"/>
            <a:ext cx="5715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Revenue EUR</a:t>
            </a:r>
          </a:p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82,992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306CD-2B10-48BE-AEC9-E11FE31D02FB}"/>
              </a:ext>
            </a:extLst>
          </p:cNvPr>
          <p:cNvSpPr>
            <a:spLocks noGrp="1"/>
          </p:cNvSpPr>
          <p:nvPr/>
        </p:nvSpPr>
        <p:spPr>
          <a:xfrm>
            <a:off x="7000875" y="2095500"/>
            <a:ext cx="4572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Cost EUR</a:t>
            </a:r>
          </a:p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36,714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5E1D3-0DFF-4880-ADC1-07DD5FE841C6}"/>
              </a:ext>
            </a:extLst>
          </p:cNvPr>
          <p:cNvSpPr>
            <a:spLocks noGrp="1"/>
          </p:cNvSpPr>
          <p:nvPr/>
        </p:nvSpPr>
        <p:spPr>
          <a:xfrm>
            <a:off x="809625" y="4191000"/>
            <a:ext cx="10620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Six months of operating records across four groups.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Gross margin: 55.76%</a:t>
            </a:r>
          </a:p>
        </p:txBody>
      </p:sp>
    </p:spTree>
    <p:extLst>
      <p:ext uri="{BB962C8B-B14F-4D97-AF65-F5344CB8AC3E}">
        <p14:creationId xmlns:p14="http://schemas.microsoft.com/office/powerpoint/2010/main" val="115789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16BA17-3673-4845-A5C7-2AE823E865D4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Revenue EUR: six-month trend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FA7FB4-D1DC-4E77-973B-32B7F82F0ADD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4244C-8AB9-4E70-9C5C-9CDA9363F4FD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276F5-6FCB-4157-8566-292503FA45EE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36A4513-EDEC-A6ED-BB1E-6AE6752E57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9864107"/>
              </p:ext>
            </p:extLst>
          </p:nvPr>
        </p:nvGraphicFramePr>
        <p:xfrm>
          <a:off x="838200" y="2009775"/>
          <a:ext cx="10477500" cy="332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7154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9BE370-C899-46AF-95E7-E2859297D06B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results by operating group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7460F9-AD57-4909-9C9B-41714EBCB21B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0CE5D-42F0-427D-AB1C-9AC2E7F66F29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E65E1-90E9-4CC9-A895-07455B4EA5EB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0" name="Table 9"/>
          <p:cNvGraphicFramePr/>
          <p:nvPr>
            <p:extLst>
              <p:ext uri="{D42A27DB-BD31-4B8C-83A1-F6EECF244321}">
                <p14:modId xmlns:p14="http://schemas.microsoft.com/office/powerpoint/2010/main" val="2103788190"/>
              </p:ext>
            </p:extLst>
          </p:nvPr>
        </p:nvGraphicFramePr>
        <p:xfrm>
          <a:off x="800100" y="1943100"/>
          <a:ext cx="10591800" cy="34290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Revenue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South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10,787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9,708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West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22,044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8,137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553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34F6AE-75D6-E0DA-D71F-60F9B22BD6E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Operating review and evidence boundaries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A316F-3AD1-EDC9-8DA2-A771CB49648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Source-backed measures and interpretation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788ABA-FBD9-7DD1-A11E-0CF93953FF3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13145-A234-022A-0478-317C59359C9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64550-B616-FB65-A05D-726B19B3C79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June measure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47D1A-63E7-112A-56A3-D8CAB0294DD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76700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672375-ACF8-8C79-4E42-DA6168488A2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2716470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June revenue eur: 82,992.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B0E0F-D84B-F904-CC52-8AC389E07E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61100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D4D8D6-4B4B-3E64-ECE9-754CB2E86D2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61100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821B1-FE32-F1C4-4796-A26F0DB0B82E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438900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Cost and margin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215D69-9CE0-5B35-EEAD-BB2A2B34C4A6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874504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59CD8-04F9-4276-6C64-AAC81C9BEB3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438900" y="2716470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Cost EUR: 36,714. Gross margin: 55.76%.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546E2F-94D1-2440-5FA2-946F4821207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3296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E4B339-F7CE-7BB9-F7BC-B2A4605D10A0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63296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CFAD6E-C950-0D6E-7386-AA400B0BA0C6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41096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Comparison scope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B11A65-2D6C-E634-C82C-C2743A50E4D7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41096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The monthly comparison covers January to June 2026. Group comparisons use June records only. Source blanks remain unknown.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AA3161-A409-A6B2-3923-DF092FBE5F52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61100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24908A-CE95-20E5-A7BA-473865782CA1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261100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ACBAA7-8C6B-4B64-BA01-72F9C3E9F78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438900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Interpretation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F87384-7DAB-6F0D-DBFC-353A3749A28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38900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Operational status and financial performance are separate: a planned action is not a completed result.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CE5D8E-BDB3-4ED8-8D5F-C6E1A5226039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Fictional operational source; WB01 Ledger and History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9F9DD1-C1A1-D17B-7EC8-A2F3845C97C8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E82F9C-5CD9-D5F0-AEDF-8C5EE2E3BE7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719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B9C812-F076-42C3-B6AB-20D6724BB099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Follow-up register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D0EC2-69C4-461E-A176-92260998F7A7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07E94F-F1C4-4FA1-8599-59B7B877505D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8385D5-9DDB-4C30-A649-15081893C350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800100" y="1943100"/>
          <a:ext cx="10591800" cy="32385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follow-up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Due date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Mira Cole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Reconcile North source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Leon Park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South exceptions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Nadia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Confirm East operating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Evan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West source completeness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DEFC937-2955-487A-9B78-994FFA64792D}"/>
              </a:ext>
            </a:extLst>
          </p:cNvPr>
          <p:cNvSpPr>
            <a:spLocks noGrp="1"/>
          </p:cNvSpPr>
          <p:nvPr/>
        </p:nvSpPr>
        <p:spPr>
          <a:xfrm>
            <a:off x="800100" y="561022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All follow-ups are planned. Completion and savings are not confirmed.</a:t>
            </a:r>
          </a:p>
        </p:txBody>
      </p:sp>
    </p:spTree>
    <p:extLst>
      <p:ext uri="{BB962C8B-B14F-4D97-AF65-F5344CB8AC3E}">
        <p14:creationId xmlns:p14="http://schemas.microsoft.com/office/powerpoint/2010/main" val="174241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7930F9-CFB7-4295-B66E-527C123B2258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Source coverage and definitions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004DF6-4434-4BF5-A26F-DDCE0E34624F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4B99C4-48CD-4B03-B3BA-AEC82EB16665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902CBD-90D1-4178-A4E2-7E2611402662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55E10-C2E7-4DA4-B612-16ACA52BAA65}"/>
              </a:ext>
            </a:extLst>
          </p:cNvPr>
          <p:cNvSpPr>
            <a:spLocks noGrp="1"/>
          </p:cNvSpPr>
          <p:nvPr/>
        </p:nvSpPr>
        <p:spPr>
          <a:xfrm>
            <a:off x="800100" y="1971675"/>
            <a:ext cx="10572750" cy="3524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Workbook: WB01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Period: January–June 2026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Groups: North, South, East, West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Measures: Revenue EUR; Cost EUR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source measures are complete.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Rates use the aggregate numerator and denominator, not an average of row rates.</a:t>
            </a:r>
          </a:p>
        </p:txBody>
      </p:sp>
    </p:spTree>
    <p:extLst>
      <p:ext uri="{BB962C8B-B14F-4D97-AF65-F5344CB8AC3E}">
        <p14:creationId xmlns:p14="http://schemas.microsoft.com/office/powerpoint/2010/main" val="19438039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REVISIONDRAFT" val="phase4-pp01-native"/>
  <p:tag name="SCRIBBLEPRESENTATIONID" val="554afdb2f3aa4cb3bac03fe486af670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059f388e61e54809bb07ea9cb46f26b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Office PowerPoint</Application>
  <PresentationFormat>Custom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7</cp:revision>
  <dcterms:created xsi:type="dcterms:W3CDTF">2026-09-24T15:28:46Z</dcterms:created>
  <dcterms:modified xsi:type="dcterms:W3CDTF">2026-09-24T15:29:14Z</dcterms:modified>
</cp:coreProperties>
</file>