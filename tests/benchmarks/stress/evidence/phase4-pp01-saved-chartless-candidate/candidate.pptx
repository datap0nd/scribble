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fr-FR" sz="1000" b="1">
                <a:solidFill>
                  <a:srgbClr val="404040"/>
                </a:solidFill>
                <a:latin typeface="Samsung Sharp Sans Bold"/>
              </a:rPr>
              <a:t>Revenue EUR / Cost EUR (EUR)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85465</c:v>
                </c:pt>
                <c:pt idx="1">
                  <c:v>86227</c:v>
                </c:pt>
                <c:pt idx="2">
                  <c:v>81867</c:v>
                </c:pt>
                <c:pt idx="3">
                  <c:v>80048</c:v>
                </c:pt>
                <c:pt idx="4">
                  <c:v>85519</c:v>
                </c:pt>
                <c:pt idx="5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87-490C-A47E-2C9C1EA4AA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EUR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37923</c:v>
                </c:pt>
                <c:pt idx="1">
                  <c:v>35861</c:v>
                </c:pt>
                <c:pt idx="2">
                  <c:v>34892</c:v>
                </c:pt>
                <c:pt idx="3">
                  <c:v>34407</c:v>
                </c:pt>
                <c:pt idx="4">
                  <c:v>36702</c:v>
                </c:pt>
                <c:pt idx="5">
                  <c:v>36714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87-490C-A47E-2C9C1EA4A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1676815"/>
        <c:axId val="1766171663"/>
      </c:barChart>
      <c:catAx>
        <c:axId val="193167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6171663"/>
        <c:crosses val="autoZero"/>
        <c:auto val="1"/>
        <c:lblAlgn val="ctr"/>
        <c:lblOffset val="100"/>
        <c:noMultiLvlLbl val="0"/>
      </c:catAx>
      <c:valAx>
        <c:axId val="176617166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1676815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D358E-7E57-43F8-80A1-15D852CAC28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03105-2145-4C56-A6EC-973CD0B5BE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78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041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  <a:r>
              <a:rPr lang="en-GB"/>
              <a:t>
WB01 Ledger and History
Fictional operational source
Evidence:
Source content retained in native editable cards.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2BC2-A604-CB97-F5B9-9B64E66C9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E8CFA-E261-C9FA-4E35-1FC57C3FD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833F9-8328-0566-CD44-0773B46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C7926-9469-8AF7-2C18-D52B9E35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1C6C-AD49-6167-002E-CE66CB5A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9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9CFB-1A2C-9C3F-B4AC-C33C12CD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1AE0-2FC9-4F0A-B5C6-9DD194357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CB622-73A4-CBBF-4534-8B6F20F8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59676-D82E-EAD1-57B6-9504428E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5F751-5C84-07B0-C504-4CB67AFE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74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37B5-5093-A003-6CE8-921326DE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ABCA0-27CF-A583-0B48-AC3E5DA8A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C452-A1E9-C8A1-22F1-58E32844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F92B-1E48-3EC9-442C-0D2276EE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61885-CEEA-0F1F-8052-4B0E6AE8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11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E6EB-FADC-0008-476E-CB1220B55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28D6-D8A1-ACA8-60F6-5E661D6F7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07D91-86A8-8379-BB9A-52463DC96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0CC30-E986-36D1-6911-91732BBA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AE994-22D9-B5B9-62B8-38EB278B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7C8B8-0D6D-8AA8-72B5-CC2BCDD6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97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E056-DCB6-6533-C107-29050F01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1F1E7-A4F0-64C5-0A27-8D4738544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F5EFE-48FF-99B2-A41A-A6A2C5D68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7A3E0F-0533-D14D-5A0D-5A23A210C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37E1D-8A7E-1BA9-A344-4A2625A47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5A2BF-D1C6-68FB-8174-0BD4879C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B82E1-8BE4-7B6D-AA54-84A11B4A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01015A-3475-55A1-E0DF-3A6E40D8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4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C793-2B2E-2FFF-D94E-A580AA1A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25A7C-6302-BCCF-39F6-71913824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79A58-D8D8-7679-613F-367BA150D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30792-C009-DACE-6218-3241B421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66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1B5DC-6249-F0CD-F41B-EC3401A4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639CD-6247-F443-4EB2-877D2470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A40BD-1CDF-C57B-A5D9-4C186DC0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673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569E-E97F-A88A-27AB-E7E7A322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6D7CD-FDD4-B108-E40E-9F4B10CE9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5262E-2F58-6B6B-5AE6-D010F28A0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F491E-1CF2-A18C-4DFF-FA10F0B1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67A6F-C8EC-EFA5-8623-74B32627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875C-8CC3-3858-01DB-C22B9C5F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23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0B9E-B4B0-2DA6-88A3-F60D3F58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AA25FE-DEC7-C4B2-20AD-6DE45EEFF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BB976-6042-6E40-1A74-FB7A8909E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E3182-431E-F41F-E99C-98078954F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CAF7B-ACCB-4CE8-88C3-EE8D0749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2F018-04D6-A0F1-DF2D-3F7AFCD8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39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36FA-503D-35CD-DF63-C842E3267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5F564-B532-9E92-D8FE-0AC04B3CD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45A5E-3F0A-BA1E-AA1F-BD2FD046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77CF-BE14-31B3-5B33-108D1CD96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DB0A1-F506-561B-6954-A1D907F2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4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EF9DC2-19E3-1B59-50D2-DF745BF83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07404-0CA9-2959-E9B8-077BA8185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926F4-064E-5790-6311-BF2DC21C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1A5A-4FBC-FDC7-F94D-FCA485BD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114D9-BDF7-FEC8-EB78-15F17934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52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86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44FDB-AFAA-410B-3B5B-F8078E5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66A1D-6DE2-0A50-92D1-52DD97792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F7DF2-E2DF-9CC0-519F-C4F981EA5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83BDF-49A1-413B-BA07-DAB9B171D5D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DF-986C-7B27-C50C-06416909E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59DBD-9799-6E20-2AEC-18EAA09C2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7D5A5-2F57-4DCE-ADDC-B0B57CFB2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02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FE0A8E-63D9-4BD6-B46B-3BDD58AAE346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Atlas Components: sales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3DD420-9DAE-4D5C-AA5E-346A344FF52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599C9-4640-4ACC-8DA1-E2149611379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B52F3-41FE-4D41-B8D3-9494F284CBAA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47349D-376E-42EE-A1AA-6F31CBFB3FDC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Revenue EUR</a:t>
            </a:r>
          </a:p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82,992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1B87C-CFAA-4D1B-AAF0-5CE227EE0049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Cost EUR</a:t>
            </a:r>
          </a:p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36,714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050AF9-7F70-46F5-BE6C-67C956100E76}"/>
              </a:ext>
            </a:extLst>
          </p:cNvPr>
          <p:cNvSpPr>
            <a:spLocks noGrp="1"/>
          </p:cNvSpPr>
          <p:nvPr/>
        </p:nvSpPr>
        <p:spPr>
          <a:xfrm>
            <a:off x="809625" y="4191000"/>
            <a:ext cx="10620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Six months of operating records across four groups.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Gross margin: 55.76%</a:t>
            </a:r>
          </a:p>
        </p:txBody>
      </p:sp>
    </p:spTree>
    <p:extLst>
      <p:ext uri="{BB962C8B-B14F-4D97-AF65-F5344CB8AC3E}">
        <p14:creationId xmlns:p14="http://schemas.microsoft.com/office/powerpoint/2010/main" val="62325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5519EE4-D9D8-BB81-8CE5-EB34BE6863A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Revenue EUR: six-month trend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3A660DF-1AC9-8DBA-39B7-3AA854B628FC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C35E94-62CC-A0B7-175D-8F23B904B016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9A389E-E551-783E-FCCE-B266B7491538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1CDF527-59C1-AFE2-E9A6-413BDE6644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0898970"/>
              </p:ext>
            </p:extLst>
          </p:nvPr>
        </p:nvGraphicFramePr>
        <p:xfrm>
          <a:off x="838200" y="2009775"/>
          <a:ext cx="10477500" cy="332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11933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84F039-26DE-45F7-9614-A43CF7C4FB45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results by operating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17D853-33D8-49C8-B305-470B6BFE47DA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D94D87-0578-46C6-ABD9-ACC089ECC67A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353488-14F9-4532-B329-5022292393AB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269229307"/>
              </p:ext>
            </p:extLst>
          </p:nvPr>
        </p:nvGraphicFramePr>
        <p:xfrm>
          <a:off x="800100" y="1943100"/>
          <a:ext cx="10591800" cy="34290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10,787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9,708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98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1BFB09-F3F4-7ED2-E7BD-0198AD30F0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Operating review and evidence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0B9D9-32D2-7A68-5DCE-3586A0878F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Source-backed measures and interpretation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64DBDE-2B4C-205B-7315-7024CF9CEDE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75FA02-5F48-8CA3-93AC-0B6CF2FB9AF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662970-81BE-56BD-D776-DE4E6966D10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June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FA89F-FA78-D78D-C89E-9994825B2BB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329405-AD01-EAF5-D405-2DB6C823501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June revenue 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40AE73-B3F4-6F07-6C48-07C2FF0661C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F4EDAC-77E9-C8A6-DDB2-8D54F4D0893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15CD55-2C90-12CA-A337-71146BABDA9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Cost and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B5F59-A156-5670-FA04-3EF34492E43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06910-14DB-DCE8-9F8F-55711DB3387E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992757-3FCF-1F6D-5ADB-975C6D7BE7C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Gross margin: 55.76%.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5FCEC3-08D0-9710-870B-35B171C97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3EC297-77C1-1FAB-0522-973DE06F6AF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BC8C91-0D0A-9866-BE28-864E34A138A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Comparison scope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001BE4-CF31-3AFD-BAD9-6CE284B065D9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monthly comparison covers January to June 2026. Group comparisons use June records only. Source blanks remain unknown.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B82FF6-310E-FAD1-CDF0-84426ECDA068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244D31-E8AB-7CD8-1D5F-43FFFF99AD0D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986498-5B9D-36C6-9FA2-5B4698AE935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5B99C-BDA3-BB7D-1059-45115C28F107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438900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Operational status and financial performance are separate: a planned action is not a completed result.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24A9E-3712-27CE-D38F-1BC7E070999E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Fictional operational source; WB01 Ledger and History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D1011B-BED9-3019-E6BD-9F1C618F41CD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602979-DBFF-B64E-B5E5-436767F5DF61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805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1F6B2D-3578-470C-8593-0824FCA0956C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Follow-up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BADE79-26A1-4B90-9192-CBEA59E8BD7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68F05C-40ED-468E-AB63-AD7F68D55FB6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3C7B5-2BD7-4AAC-8D87-175BD846E967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800100" y="1943100"/>
          <a:ext cx="10591800" cy="32385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follow-up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Due 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Mira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Reconcile North source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Leon Park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South exceptions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Nadia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Confirm East operating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Evan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West source completeness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F8E9040-23BD-4E4C-BAAA-AB592BDC0139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All follow-ups are planned. Completion and savings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942290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E57302-E734-47B0-B9B1-48F2ED26977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Source coverage and definitions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A93A0E-36AE-465D-B71C-7BF7D19850E3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48A92-20D1-44B9-9AAA-A17097C69419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5D0BC-DA36-48BA-847C-FFD3E591C98B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928572-B41C-4636-BBBB-CA53879D0B17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0572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Workbook: WB01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Period: January–June 2026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Groups: North, South, East, West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Measures: Revenue EUR; Cost EUR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source measures are complete.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Rates use the aggregate numerator and denominator, not an average of row rates.</a:t>
            </a:r>
          </a:p>
        </p:txBody>
      </p:sp>
    </p:spTree>
    <p:extLst>
      <p:ext uri="{BB962C8B-B14F-4D97-AF65-F5344CB8AC3E}">
        <p14:creationId xmlns:p14="http://schemas.microsoft.com/office/powerpoint/2010/main" val="1437583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REVISIONDRAFT" val="phase4-pp01-native"/>
  <p:tag name="SCRIBBLEPRESENTATIONID" val="e51cec50c6a24c38a03e27b7a3113ec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2de4fd1f117e49c38dedc14324349ee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Custom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10</cp:revision>
  <dcterms:created xsi:type="dcterms:W3CDTF">2026-09-25T11:36:54Z</dcterms:created>
  <dcterms:modified xsi:type="dcterms:W3CDTF">2026-09-25T11:37:32Z</dcterms:modified>
</cp:coreProperties>
</file>